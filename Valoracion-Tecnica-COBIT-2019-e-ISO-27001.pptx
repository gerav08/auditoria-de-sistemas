
<file path=[Content_Types].xml><?xml version="1.0" encoding="utf-8"?>
<Types xmlns="http://schemas.openxmlformats.org/package/2006/content-types">
  <Default Extension="xml" ContentType="application/xml"/>
  <Default Extension="svg" ContentType="image/svg+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slideLayouts/slideLayout9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embedTrueTypeFonts="1" saveSubsetFonts="1">
  <p:sldMasterIdLst>
    <p:sldMasterId id="2147483648" r:id="rId1"/>
  </p:sldMasterIdLst>
  <p:notesMasterIdLst>
    <p:notesMasterId r:id="rId13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2880"/>
        <p:guide pos="162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 /><Relationship Id="rId15" Type="http://schemas.openxmlformats.org/officeDocument/2006/relationships/tableStyles" Target="tableStyles.xml" /><Relationship Id="rId16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1616551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1233692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1922584700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145248936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85932268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40160195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3972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715896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629065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07353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417040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394890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61446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197684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492073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3762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36928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581847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25279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32875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797369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23191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769941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287207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3787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073336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869222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82315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326168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962478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286770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501939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710241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56592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42598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89912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.pn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4.png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5.png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6.png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7.png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8.png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9.png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lide 1 mas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4039748" name="Shape 0"/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674201685" name="Shape 1"/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24226076" name="Image 0" descr="preencoded.png">
            <a:hlinkClick r:id="rId2" tooltip=""/>
          </p:cNvPr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lide 2 mas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6921662" name="Shape 0"/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1767115134" name="Shape 1"/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670955108" name="Image 0" descr="preencoded.png">
            <a:hlinkClick r:id="rId2" tooltip=""/>
          </p:cNvPr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lide 3 mas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0387607" name="Shape 0"/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1049012505" name="Shape 1"/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1609363465" name="Image 0" descr="preencoded.png">
            <a:hlinkClick r:id="rId2" tooltip=""/>
          </p:cNvPr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lide 4 mas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7848697" name="Shape 0"/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107539621" name="Shape 1"/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2068097933" name="Image 0" descr="preencoded.png">
            <a:hlinkClick r:id="rId2" tooltip=""/>
          </p:cNvPr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lide 5 mas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08790" name="Shape 0"/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278253593" name="Shape 1"/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45005939" name="Image 0" descr="preencoded.png">
            <a:hlinkClick r:id="rId2" tooltip=""/>
          </p:cNvPr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lide 6 mas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794874" name="Shape 0"/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1603029465" name="Shape 1"/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1999857331" name="Image 0" descr="preencoded.png">
            <a:hlinkClick r:id="rId2" tooltip=""/>
          </p:cNvPr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lide 7 mas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2947218" name="Shape 0"/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982165981" name="Shape 1"/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1379098007" name="Image 0" descr="preencoded.png">
            <a:hlinkClick r:id="rId2" tooltip=""/>
          </p:cNvPr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lide 8 mas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9023212" name="Shape 0"/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689990386" name="Shape 1"/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805724442" name="Image 0" descr="preencoded.png">
            <a:hlinkClick r:id="rId2" tooltip=""/>
          </p:cNvPr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lide 9 mas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7254449" name="Shape 0"/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1331188529" name="Shape 1"/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651164389" name="Image 0" descr="preencoded.png">
            <a:hlinkClick r:id="rId2" tooltip=""/>
          </p:cNvPr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lide 10 mas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6463774" name="Shape 0"/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48863817" name="Shape 1"/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1698691072" name="Image 0" descr="preencoded.png">
            <a:hlinkClick r:id="rId2" tooltip=""/>
          </p:cNvPr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Relationship Id="rId4" Type="http://schemas.openxmlformats.org/officeDocument/2006/relationships/image" Target="../media/media1.svg"/><Relationship Id="rId5" Type="http://schemas.openxmlformats.org/officeDocument/2006/relationships/image" Target="../media/image15.png"/><Relationship Id="rId6" Type="http://schemas.openxmlformats.org/officeDocument/2006/relationships/image" Target="../media/media2.svg"/><Relationship Id="rId7" Type="http://schemas.openxmlformats.org/officeDocument/2006/relationships/image" Target="../media/image16.png"/><Relationship Id="rId8" Type="http://schemas.openxmlformats.org/officeDocument/2006/relationships/image" Target="../media/media3.svg"/><Relationship Id="rId9" Type="http://schemas.openxmlformats.org/officeDocument/2006/relationships/image" Target="../media/image17.png"/><Relationship Id="rId10" Type="http://schemas.openxmlformats.org/officeDocument/2006/relationships/image" Target="../media/media4.svg"/><Relationship Id="rId11" Type="http://schemas.openxmlformats.org/officeDocument/2006/relationships/image" Target="../media/image18.png"/><Relationship Id="rId12" Type="http://schemas.openxmlformats.org/officeDocument/2006/relationships/image" Target="../media/media5.svg"/><Relationship Id="rId13" Type="http://schemas.openxmlformats.org/officeDocument/2006/relationships/image" Target="../media/image19.png"/><Relationship Id="rId14" Type="http://schemas.openxmlformats.org/officeDocument/2006/relationships/image" Target="../media/media6.svg"/><Relationship Id="rId15" Type="http://schemas.openxmlformats.org/officeDocument/2006/relationships/image" Target="../media/image20.png"/><Relationship Id="rId16" Type="http://schemas.openxmlformats.org/officeDocument/2006/relationships/image" Target="../media/media7.sv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2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3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38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38112810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249496274" name="Text 0"/>
          <p:cNvSpPr/>
          <p:nvPr/>
        </p:nvSpPr>
        <p:spPr bwMode="auto">
          <a:xfrm>
            <a:off x="3952577" y="1248296"/>
            <a:ext cx="4667845" cy="88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2750">
                <a:solidFill>
                  <a:srgbClr val="FFFFFF"/>
                </a:solidFill>
                <a:latin typeface="Kanit"/>
                <a:ea typeface="Kanit"/>
                <a:cs typeface="Kanit"/>
              </a:rPr>
              <a:t>Valoración Técnica: COBIT 2019 e ISO 27001</a:t>
            </a:r>
            <a:endParaRPr lang="en-US" sz="2750"/>
          </a:p>
        </p:txBody>
      </p:sp>
      <p:sp>
        <p:nvSpPr>
          <p:cNvPr id="923191558" name="Text 1"/>
          <p:cNvSpPr/>
          <p:nvPr/>
        </p:nvSpPr>
        <p:spPr bwMode="auto">
          <a:xfrm>
            <a:off x="3952577" y="2352675"/>
            <a:ext cx="4667845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150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</a:rPr>
              <a:t>Informe técnico sobre los fundamentos de gobierno de TI y auditoría de seguridad de la información, dirigido a profesionales y directivos de tecnología.</a:t>
            </a:r>
            <a:endParaRPr lang="en-US" sz="1150"/>
          </a:p>
        </p:txBody>
      </p:sp>
      <p:sp>
        <p:nvSpPr>
          <p:cNvPr id="1781793086" name="Shape 2"/>
          <p:cNvSpPr/>
          <p:nvPr/>
        </p:nvSpPr>
        <p:spPr bwMode="auto">
          <a:xfrm>
            <a:off x="3952577" y="3243858"/>
            <a:ext cx="943049" cy="281136"/>
          </a:xfrm>
          <a:prstGeom prst="roundRect">
            <a:avLst>
              <a:gd name="adj" fmla="val 6386"/>
            </a:avLst>
          </a:prstGeom>
          <a:solidFill>
            <a:srgbClr val="4C0107"/>
          </a:solidFill>
          <a:ln/>
        </p:spPr>
      </p:sp>
      <p:sp>
        <p:nvSpPr>
          <p:cNvPr id="1453896101" name="Text 3"/>
          <p:cNvSpPr/>
          <p:nvPr/>
        </p:nvSpPr>
        <p:spPr bwMode="auto">
          <a:xfrm>
            <a:off x="4285244" y="2975148"/>
            <a:ext cx="1220763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900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</a:rPr>
              <a:t>GOBIERNO TI</a:t>
            </a:r>
            <a:endParaRPr lang="en-US" sz="900"/>
          </a:p>
        </p:txBody>
      </p:sp>
      <p:sp>
        <p:nvSpPr>
          <p:cNvPr id="13795619" name="Shape 4"/>
          <p:cNvSpPr/>
          <p:nvPr/>
        </p:nvSpPr>
        <p:spPr bwMode="auto">
          <a:xfrm>
            <a:off x="4970413" y="3239095"/>
            <a:ext cx="1628998" cy="290661"/>
          </a:xfrm>
          <a:prstGeom prst="roundRect">
            <a:avLst>
              <a:gd name="adj" fmla="val 6177"/>
            </a:avLst>
          </a:prstGeom>
          <a:noFill/>
          <a:ln w="4763">
            <a:solidFill>
              <a:srgbClr val="FD505F"/>
            </a:solidFill>
            <a:prstDash val="solid"/>
          </a:ln>
        </p:spPr>
      </p:sp>
      <p:sp>
        <p:nvSpPr>
          <p:cNvPr id="310600987" name="Text 5"/>
          <p:cNvSpPr/>
          <p:nvPr/>
        </p:nvSpPr>
        <p:spPr bwMode="auto">
          <a:xfrm>
            <a:off x="5064919" y="3288729"/>
            <a:ext cx="1897187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900">
                <a:solidFill>
                  <a:srgbClr val="FD505F"/>
                </a:solidFill>
                <a:latin typeface="Martel Sans Light"/>
                <a:ea typeface="Martel Sans Light"/>
                <a:cs typeface="Martel Sans Light"/>
              </a:rPr>
              <a:t>AUDITORÍA DE SISTEMAS</a:t>
            </a:r>
            <a:endParaRPr lang="en-US" sz="900"/>
          </a:p>
        </p:txBody>
      </p:sp>
      <p:sp>
        <p:nvSpPr>
          <p:cNvPr id="1481031414" name="Shape 6"/>
          <p:cNvSpPr/>
          <p:nvPr/>
        </p:nvSpPr>
        <p:spPr bwMode="auto">
          <a:xfrm>
            <a:off x="3952577" y="3604543"/>
            <a:ext cx="2111201" cy="290661"/>
          </a:xfrm>
          <a:prstGeom prst="roundRect">
            <a:avLst>
              <a:gd name="adj" fmla="val 6177"/>
            </a:avLst>
          </a:prstGeom>
          <a:noFill/>
          <a:ln w="4763">
            <a:solidFill>
              <a:srgbClr val="FD505F"/>
            </a:solidFill>
            <a:prstDash val="solid"/>
          </a:ln>
        </p:spPr>
      </p:sp>
      <p:sp>
        <p:nvSpPr>
          <p:cNvPr id="229105693" name="Text 7"/>
          <p:cNvSpPr/>
          <p:nvPr/>
        </p:nvSpPr>
        <p:spPr bwMode="auto">
          <a:xfrm>
            <a:off x="4047083" y="3654177"/>
            <a:ext cx="2379390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900">
                <a:solidFill>
                  <a:srgbClr val="FD505F"/>
                </a:solidFill>
                <a:latin typeface="Martel Sans Light"/>
                <a:ea typeface="Martel Sans Light"/>
                <a:cs typeface="Martel Sans Light"/>
              </a:rPr>
              <a:t>SEGURIDAD DE LA INFORMACIÓN</a:t>
            </a:r>
            <a:endParaRPr lang="en-US" sz="900"/>
          </a:p>
        </p:txBody>
      </p:sp>
      <p:sp>
        <p:nvSpPr>
          <p:cNvPr id="1861022081" name="Shape 2"/>
          <p:cNvSpPr/>
          <p:nvPr/>
        </p:nvSpPr>
        <p:spPr bwMode="auto">
          <a:xfrm flipH="0" flipV="0">
            <a:off x="8011355" y="4862363"/>
            <a:ext cx="1080590" cy="281135"/>
          </a:xfrm>
          <a:prstGeom prst="roundRect">
            <a:avLst>
              <a:gd name="adj" fmla="val 6386"/>
            </a:avLst>
          </a:prstGeom>
          <a:solidFill>
            <a:srgbClr val="4C0107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6811373" name="Shape 0"/>
          <p:cNvSpPr/>
          <p:nvPr/>
        </p:nvSpPr>
        <p:spPr bwMode="auto">
          <a:xfrm>
            <a:off x="523577" y="602456"/>
            <a:ext cx="823614" cy="281136"/>
          </a:xfrm>
          <a:prstGeom prst="roundRect">
            <a:avLst>
              <a:gd name="adj" fmla="val 6386"/>
            </a:avLst>
          </a:prstGeom>
          <a:solidFill>
            <a:srgbClr val="4C0107"/>
          </a:solidFill>
          <a:ln/>
        </p:spPr>
      </p:sp>
      <p:sp>
        <p:nvSpPr>
          <p:cNvPr id="2061795804" name="Text 1"/>
          <p:cNvSpPr/>
          <p:nvPr/>
        </p:nvSpPr>
        <p:spPr bwMode="auto">
          <a:xfrm>
            <a:off x="613320" y="647328"/>
            <a:ext cx="1101328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900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</a:rPr>
              <a:t>COBIT 2019</a:t>
            </a:r>
            <a:endParaRPr lang="en-US" sz="900"/>
          </a:p>
        </p:txBody>
      </p:sp>
      <p:sp>
        <p:nvSpPr>
          <p:cNvPr id="1524799944" name="Text 2"/>
          <p:cNvSpPr/>
          <p:nvPr/>
        </p:nvSpPr>
        <p:spPr bwMode="auto">
          <a:xfrm>
            <a:off x="523577" y="943421"/>
            <a:ext cx="3977506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2750">
                <a:solidFill>
                  <a:srgbClr val="FFFFFF"/>
                </a:solidFill>
                <a:latin typeface="Kanit"/>
                <a:ea typeface="Kanit"/>
                <a:cs typeface="Kanit"/>
              </a:rPr>
              <a:t>¿Qué es COBIT 2019?</a:t>
            </a:r>
            <a:endParaRPr lang="en-US" sz="2750"/>
          </a:p>
        </p:txBody>
      </p:sp>
      <p:pic>
        <p:nvPicPr>
          <p:cNvPr id="37671825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23577" y="1776040"/>
            <a:ext cx="2596679" cy="2596679"/>
          </a:xfrm>
          <a:prstGeom prst="rect">
            <a:avLst/>
          </a:prstGeom>
        </p:spPr>
      </p:pic>
      <p:sp>
        <p:nvSpPr>
          <p:cNvPr id="1721613297" name="Text 3"/>
          <p:cNvSpPr/>
          <p:nvPr/>
        </p:nvSpPr>
        <p:spPr bwMode="auto">
          <a:xfrm>
            <a:off x="3489945" y="1817712"/>
            <a:ext cx="5135166" cy="1196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150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</a:rPr>
              <a:t>COBIT 2019 no es una herramienta técnica aislada, sino un </a:t>
            </a:r>
            <a:r>
              <a:rPr lang="en-US" sz="1150" b="1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</a:rPr>
              <a:t>marco de referencia de gobierno y gestión empresarial de la tecnología</a:t>
            </a:r>
            <a:r>
              <a:rPr lang="en-US" sz="1150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</a:rPr>
              <a:t>. Actúa como una "sombrilla" que articula otros estándares (ITIL, ISO 9001, ISO 27001) para asegurar que la TI funcione como </a:t>
            </a:r>
            <a:r>
              <a:rPr lang="en-US" sz="1150" b="1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</a:rPr>
              <a:t>habilitador del negocio</a:t>
            </a:r>
            <a:r>
              <a:rPr lang="en-US" sz="1150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</a:rPr>
              <a:t>, no como un fin en sí mismo.</a:t>
            </a:r>
            <a:endParaRPr lang="en-US" sz="1150"/>
          </a:p>
        </p:txBody>
      </p:sp>
      <p:sp>
        <p:nvSpPr>
          <p:cNvPr id="1947886335" name="Shape 4"/>
          <p:cNvSpPr/>
          <p:nvPr/>
        </p:nvSpPr>
        <p:spPr bwMode="auto">
          <a:xfrm>
            <a:off x="3489945" y="3182913"/>
            <a:ext cx="5135166" cy="1114499"/>
          </a:xfrm>
          <a:prstGeom prst="roundRect">
            <a:avLst>
              <a:gd name="adj" fmla="val 2014"/>
            </a:avLst>
          </a:prstGeom>
          <a:solidFill>
            <a:srgbClr val="022349"/>
          </a:solidFill>
          <a:ln/>
        </p:spPr>
      </p:sp>
      <p:pic>
        <p:nvPicPr>
          <p:cNvPr id="1031567266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3639517" y="3391346"/>
            <a:ext cx="187003" cy="149572"/>
          </a:xfrm>
          <a:prstGeom prst="rect">
            <a:avLst/>
          </a:prstGeom>
        </p:spPr>
      </p:pic>
      <p:sp>
        <p:nvSpPr>
          <p:cNvPr id="420729115" name="Text 5"/>
          <p:cNvSpPr/>
          <p:nvPr/>
        </p:nvSpPr>
        <p:spPr bwMode="auto">
          <a:xfrm>
            <a:off x="3976092" y="3369841"/>
            <a:ext cx="4499446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150">
                <a:solidFill>
                  <a:srgbClr val="FFFFFF"/>
                </a:solidFill>
                <a:latin typeface="Martel Sans Light"/>
                <a:ea typeface="Martel Sans Light"/>
                <a:cs typeface="Martel Sans Light"/>
              </a:rPr>
              <a:t>Su valor diferencial radica en alinear las inversiones tecnológicas con la estrategia corporativa y la entrega de valor a las partes interesadas.</a:t>
            </a:r>
            <a:endParaRPr lang="en-US" sz="1150"/>
          </a:p>
        </p:txBody>
      </p:sp>
      <p:sp>
        <p:nvSpPr>
          <p:cNvPr id="1009623450" name="Shape 2"/>
          <p:cNvSpPr/>
          <p:nvPr/>
        </p:nvSpPr>
        <p:spPr bwMode="auto">
          <a:xfrm flipH="0" flipV="0">
            <a:off x="8011354" y="4862363"/>
            <a:ext cx="1080590" cy="281135"/>
          </a:xfrm>
          <a:prstGeom prst="roundRect">
            <a:avLst>
              <a:gd name="adj" fmla="val 6386"/>
            </a:avLst>
          </a:prstGeom>
          <a:solidFill>
            <a:srgbClr val="4C0107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5269651" name="Shape 0"/>
          <p:cNvSpPr/>
          <p:nvPr/>
        </p:nvSpPr>
        <p:spPr bwMode="auto">
          <a:xfrm>
            <a:off x="523577" y="801067"/>
            <a:ext cx="823614" cy="281136"/>
          </a:xfrm>
          <a:prstGeom prst="roundRect">
            <a:avLst>
              <a:gd name="adj" fmla="val 6386"/>
            </a:avLst>
          </a:prstGeom>
          <a:solidFill>
            <a:srgbClr val="4C0107"/>
          </a:solidFill>
          <a:ln/>
        </p:spPr>
      </p:sp>
      <p:sp>
        <p:nvSpPr>
          <p:cNvPr id="1351196376" name="Text 1"/>
          <p:cNvSpPr/>
          <p:nvPr/>
        </p:nvSpPr>
        <p:spPr bwMode="auto">
          <a:xfrm>
            <a:off x="613320" y="845938"/>
            <a:ext cx="1101328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900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</a:rPr>
              <a:t>COBIT 2019</a:t>
            </a:r>
            <a:endParaRPr lang="en-US" sz="900"/>
          </a:p>
        </p:txBody>
      </p:sp>
      <p:sp>
        <p:nvSpPr>
          <p:cNvPr id="562586000" name="Text 2"/>
          <p:cNvSpPr/>
          <p:nvPr/>
        </p:nvSpPr>
        <p:spPr bwMode="auto">
          <a:xfrm>
            <a:off x="523577" y="1142033"/>
            <a:ext cx="7380982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2750">
                <a:solidFill>
                  <a:srgbClr val="FFFFFF"/>
                </a:solidFill>
                <a:latin typeface="Kanit"/>
                <a:ea typeface="Kanit"/>
                <a:cs typeface="Kanit"/>
              </a:rPr>
              <a:t>Gobierno vs. Gestión: Separación Estructural</a:t>
            </a:r>
            <a:endParaRPr lang="en-US" sz="2750"/>
          </a:p>
        </p:txBody>
      </p:sp>
      <p:sp>
        <p:nvSpPr>
          <p:cNvPr id="1444701123" name="Shape 3"/>
          <p:cNvSpPr/>
          <p:nvPr/>
        </p:nvSpPr>
        <p:spPr bwMode="auto">
          <a:xfrm>
            <a:off x="523577" y="1806401"/>
            <a:ext cx="8096845" cy="2536031"/>
          </a:xfrm>
          <a:prstGeom prst="roundRect">
            <a:avLst>
              <a:gd name="adj" fmla="val 885"/>
            </a:avLst>
          </a:prstGeom>
          <a:solidFill>
            <a:srgbClr val="2F2B54"/>
          </a:solidFill>
          <a:ln/>
        </p:spPr>
      </p:sp>
      <p:sp>
        <p:nvSpPr>
          <p:cNvPr id="933085715" name="Shape 4"/>
          <p:cNvSpPr/>
          <p:nvPr/>
        </p:nvSpPr>
        <p:spPr bwMode="auto">
          <a:xfrm>
            <a:off x="523577" y="1806401"/>
            <a:ext cx="4048423" cy="2536031"/>
          </a:xfrm>
          <a:prstGeom prst="roundRect">
            <a:avLst>
              <a:gd name="adj" fmla="val 885"/>
            </a:avLst>
          </a:prstGeom>
          <a:solidFill>
            <a:srgbClr val="2F2B54"/>
          </a:solidFill>
          <a:ln/>
        </p:spPr>
      </p:sp>
      <p:sp>
        <p:nvSpPr>
          <p:cNvPr id="722222606" name="Text 5"/>
          <p:cNvSpPr/>
          <p:nvPr/>
        </p:nvSpPr>
        <p:spPr bwMode="auto">
          <a:xfrm>
            <a:off x="673150" y="1955974"/>
            <a:ext cx="2270820" cy="224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350">
                <a:solidFill>
                  <a:srgbClr val="000000"/>
                </a:solidFill>
                <a:latin typeface="Kanit"/>
                <a:ea typeface="Kanit"/>
                <a:cs typeface="Kanit"/>
              </a:rPr>
              <a:t>🏛</a:t>
            </a:r>
            <a:r>
              <a:rPr lang="en-US" sz="1350">
                <a:solidFill>
                  <a:srgbClr val="D9E1FF"/>
                </a:solidFill>
                <a:latin typeface="Kanit"/>
                <a:ea typeface="Kanit"/>
                <a:cs typeface="Kanit"/>
              </a:rPr>
              <a:t> Gobierno — Dominio EDM</a:t>
            </a:r>
            <a:endParaRPr lang="en-US" sz="1350"/>
          </a:p>
        </p:txBody>
      </p:sp>
      <p:sp>
        <p:nvSpPr>
          <p:cNvPr id="357006570" name="Text 6"/>
          <p:cNvSpPr/>
          <p:nvPr/>
        </p:nvSpPr>
        <p:spPr bwMode="auto">
          <a:xfrm>
            <a:off x="673150" y="2270447"/>
            <a:ext cx="3749278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150" b="1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</a:rPr>
              <a:t>Evaluar, Dirigir y Monitorizar.</a:t>
            </a:r>
            <a:r>
              <a:rPr lang="en-US" sz="1150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</a:rPr>
              <a:t> Responsabilidad exclusiva de la alta dirección o consejo de administración.</a:t>
            </a:r>
            <a:endParaRPr lang="en-US" sz="1150"/>
          </a:p>
        </p:txBody>
      </p:sp>
      <p:sp>
        <p:nvSpPr>
          <p:cNvPr id="940177199" name="Text 7"/>
          <p:cNvSpPr/>
          <p:nvPr/>
        </p:nvSpPr>
        <p:spPr bwMode="auto">
          <a:xfrm>
            <a:off x="673150" y="3078361"/>
            <a:ext cx="3749278" cy="1114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  <a:defRPr/>
            </a:pPr>
            <a:r>
              <a:rPr lang="en-US" sz="1150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</a:rPr>
              <a:t>Evaluar casos de negocio</a:t>
            </a:r>
            <a:endParaRPr lang="en-US" sz="1150"/>
          </a:p>
          <a:p>
            <a:pPr marL="342900" indent="-342900" algn="l">
              <a:lnSpc>
                <a:spcPct val="133000"/>
              </a:lnSpc>
              <a:buSzPct val="100000"/>
              <a:buChar char="•"/>
              <a:defRPr/>
            </a:pPr>
            <a:r>
              <a:rPr lang="en-US" sz="1150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</a:rPr>
              <a:t>Asegurar la entrega de valor</a:t>
            </a:r>
            <a:endParaRPr lang="en-US" sz="1150"/>
          </a:p>
          <a:p>
            <a:pPr marL="342900" indent="-342900" algn="l">
              <a:lnSpc>
                <a:spcPct val="133000"/>
              </a:lnSpc>
              <a:buSzPct val="100000"/>
              <a:buChar char="•"/>
              <a:defRPr/>
            </a:pPr>
            <a:r>
              <a:rPr lang="en-US" sz="1150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</a:rPr>
              <a:t>Optimizar riesgos y recursos</a:t>
            </a:r>
            <a:endParaRPr lang="en-US" sz="1150"/>
          </a:p>
          <a:p>
            <a:pPr marL="342900" indent="-342900" algn="l">
              <a:lnSpc>
                <a:spcPct val="133000"/>
              </a:lnSpc>
              <a:buSzPct val="100000"/>
              <a:buChar char="•"/>
              <a:defRPr/>
            </a:pPr>
            <a:r>
              <a:rPr lang="en-US" sz="1150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</a:rPr>
              <a:t>Garantizar transparencia a stakeholders</a:t>
            </a:r>
            <a:endParaRPr lang="en-US" sz="1150"/>
          </a:p>
        </p:txBody>
      </p:sp>
      <p:sp>
        <p:nvSpPr>
          <p:cNvPr id="2067076165" name="Shape 8"/>
          <p:cNvSpPr/>
          <p:nvPr/>
        </p:nvSpPr>
        <p:spPr bwMode="auto">
          <a:xfrm>
            <a:off x="4572000" y="1806401"/>
            <a:ext cx="4048423" cy="2536031"/>
          </a:xfrm>
          <a:prstGeom prst="rect">
            <a:avLst/>
          </a:prstGeom>
          <a:solidFill>
            <a:srgbClr val="2F2B54"/>
          </a:solidFill>
          <a:ln/>
        </p:spPr>
      </p:sp>
      <p:sp>
        <p:nvSpPr>
          <p:cNvPr id="274075678" name="Shape 9"/>
          <p:cNvSpPr/>
          <p:nvPr/>
        </p:nvSpPr>
        <p:spPr bwMode="auto">
          <a:xfrm>
            <a:off x="4572000" y="1806401"/>
            <a:ext cx="19050" cy="2536031"/>
          </a:xfrm>
          <a:prstGeom prst="roundRect">
            <a:avLst>
              <a:gd name="adj" fmla="val 117806"/>
            </a:avLst>
          </a:prstGeom>
          <a:solidFill>
            <a:srgbClr val="48446D"/>
          </a:solidFill>
          <a:ln/>
        </p:spPr>
      </p:sp>
      <p:sp>
        <p:nvSpPr>
          <p:cNvPr id="967544595" name="Text 10"/>
          <p:cNvSpPr/>
          <p:nvPr/>
        </p:nvSpPr>
        <p:spPr bwMode="auto">
          <a:xfrm>
            <a:off x="4721572" y="1955974"/>
            <a:ext cx="3378175" cy="224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350">
                <a:solidFill>
                  <a:srgbClr val="000000"/>
                </a:solidFill>
                <a:latin typeface="Kanit"/>
                <a:ea typeface="Kanit"/>
                <a:cs typeface="Kanit"/>
              </a:rPr>
              <a:t>⚙️</a:t>
            </a:r>
            <a:r>
              <a:rPr lang="en-US" sz="1350">
                <a:solidFill>
                  <a:srgbClr val="D9E1FF"/>
                </a:solidFill>
                <a:latin typeface="Kanit"/>
                <a:ea typeface="Kanit"/>
                <a:cs typeface="Kanit"/>
              </a:rPr>
              <a:t> Gestión — Dominios APO, BAI, DSS, MEA</a:t>
            </a:r>
            <a:endParaRPr lang="en-US" sz="1350"/>
          </a:p>
        </p:txBody>
      </p:sp>
      <p:sp>
        <p:nvSpPr>
          <p:cNvPr id="1475584784" name="Text 11"/>
          <p:cNvSpPr/>
          <p:nvPr/>
        </p:nvSpPr>
        <p:spPr bwMode="auto">
          <a:xfrm>
            <a:off x="4721572" y="2270447"/>
            <a:ext cx="3749278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150" b="1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</a:rPr>
              <a:t>Planificar, Construir, Entregar y Monitorizar.</a:t>
            </a:r>
            <a:r>
              <a:rPr lang="en-US" sz="1150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</a:rPr>
              <a:t> Responsabilidad de la alta y media gerencia.</a:t>
            </a:r>
            <a:endParaRPr lang="en-US" sz="1150"/>
          </a:p>
        </p:txBody>
      </p:sp>
      <p:sp>
        <p:nvSpPr>
          <p:cNvPr id="1122286101" name="Text 12"/>
          <p:cNvSpPr/>
          <p:nvPr/>
        </p:nvSpPr>
        <p:spPr bwMode="auto">
          <a:xfrm>
            <a:off x="4721572" y="2838971"/>
            <a:ext cx="3749278" cy="1114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  <a:defRPr/>
            </a:pPr>
            <a:r>
              <a:rPr lang="en-US" sz="1150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</a:rPr>
              <a:t>Planificar y construir servicios</a:t>
            </a:r>
            <a:endParaRPr lang="en-US" sz="1150"/>
          </a:p>
          <a:p>
            <a:pPr marL="342900" indent="-342900" algn="l">
              <a:lnSpc>
                <a:spcPct val="133000"/>
              </a:lnSpc>
              <a:buSzPct val="100000"/>
              <a:buChar char="•"/>
              <a:defRPr/>
            </a:pPr>
            <a:r>
              <a:rPr lang="en-US" sz="1150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</a:rPr>
              <a:t>Entregar operaciones tecnológicas</a:t>
            </a:r>
            <a:endParaRPr lang="en-US" sz="1150"/>
          </a:p>
          <a:p>
            <a:pPr marL="342900" indent="-342900" algn="l">
              <a:lnSpc>
                <a:spcPct val="133000"/>
              </a:lnSpc>
              <a:buSzPct val="100000"/>
              <a:buChar char="•"/>
              <a:defRPr/>
            </a:pPr>
            <a:r>
              <a:rPr lang="en-US" sz="1150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</a:rPr>
              <a:t>Monitorizar el rendimiento</a:t>
            </a:r>
            <a:endParaRPr lang="en-US" sz="1150"/>
          </a:p>
          <a:p>
            <a:pPr marL="342900" indent="-342900" algn="l">
              <a:lnSpc>
                <a:spcPct val="133000"/>
              </a:lnSpc>
              <a:buSzPct val="100000"/>
              <a:buChar char="•"/>
              <a:defRPr/>
            </a:pPr>
            <a:r>
              <a:rPr lang="en-US" sz="1150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</a:rPr>
              <a:t>Aplicar directrices del gobierno</a:t>
            </a:r>
            <a:endParaRPr lang="en-US" sz="1150"/>
          </a:p>
        </p:txBody>
      </p:sp>
      <p:sp>
        <p:nvSpPr>
          <p:cNvPr id="1455572905" name="Shape 2"/>
          <p:cNvSpPr/>
          <p:nvPr/>
        </p:nvSpPr>
        <p:spPr bwMode="auto">
          <a:xfrm flipH="0" flipV="0">
            <a:off x="8011354" y="4862363"/>
            <a:ext cx="1080590" cy="281135"/>
          </a:xfrm>
          <a:prstGeom prst="roundRect">
            <a:avLst>
              <a:gd name="adj" fmla="val 6386"/>
            </a:avLst>
          </a:prstGeom>
          <a:solidFill>
            <a:srgbClr val="4C0107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427326" name="Shape 0"/>
          <p:cNvSpPr/>
          <p:nvPr/>
        </p:nvSpPr>
        <p:spPr bwMode="auto">
          <a:xfrm>
            <a:off x="458167" y="369317"/>
            <a:ext cx="720626" cy="235446"/>
          </a:xfrm>
          <a:prstGeom prst="roundRect">
            <a:avLst>
              <a:gd name="adj" fmla="val 6672"/>
            </a:avLst>
          </a:prstGeom>
          <a:solidFill>
            <a:srgbClr val="4C0107"/>
          </a:solidFill>
          <a:ln/>
        </p:spPr>
      </p:sp>
      <p:sp>
        <p:nvSpPr>
          <p:cNvPr id="1868319673" name="Text 1"/>
          <p:cNvSpPr/>
          <p:nvPr/>
        </p:nvSpPr>
        <p:spPr bwMode="auto">
          <a:xfrm>
            <a:off x="536674" y="408533"/>
            <a:ext cx="1020812" cy="157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  <a:defRPr/>
            </a:pPr>
            <a:r>
              <a:rPr lang="en-US" sz="800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</a:rPr>
              <a:t>COBIT 2019</a:t>
            </a:r>
            <a:endParaRPr lang="en-US" sz="800"/>
          </a:p>
        </p:txBody>
      </p:sp>
      <p:sp>
        <p:nvSpPr>
          <p:cNvPr id="1217407209" name="Text 2"/>
          <p:cNvSpPr/>
          <p:nvPr/>
        </p:nvSpPr>
        <p:spPr bwMode="auto">
          <a:xfrm>
            <a:off x="458167" y="650528"/>
            <a:ext cx="6557218" cy="384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2400">
                <a:solidFill>
                  <a:srgbClr val="FFFFFF"/>
                </a:solidFill>
                <a:latin typeface="Kanit"/>
                <a:ea typeface="Kanit"/>
                <a:cs typeface="Kanit"/>
              </a:rPr>
              <a:t>Los 7 Componentes del Sistema de Gobierno</a:t>
            </a:r>
            <a:endParaRPr lang="en-US" sz="2400"/>
          </a:p>
        </p:txBody>
      </p:sp>
      <p:sp>
        <p:nvSpPr>
          <p:cNvPr id="491702664" name="Text 3"/>
          <p:cNvSpPr/>
          <p:nvPr/>
        </p:nvSpPr>
        <p:spPr bwMode="auto">
          <a:xfrm>
            <a:off x="458167" y="1207218"/>
            <a:ext cx="8227664" cy="392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  <a:defRPr/>
            </a:pPr>
            <a:r>
              <a:rPr lang="en-US" sz="1000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</a:rPr>
              <a:t>El éxito de COBIT 2019 radica en su enfoque holístico: no basta con documentar procesos. Los siete componentes son </a:t>
            </a:r>
            <a:r>
              <a:rPr lang="en-US" sz="1000" b="1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</a:rPr>
              <a:t>inseparables e interdependientes</a:t>
            </a:r>
            <a:r>
              <a:rPr lang="en-US" sz="1000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</a:rPr>
              <a:t>.</a:t>
            </a:r>
            <a:endParaRPr lang="en-US" sz="1000"/>
          </a:p>
        </p:txBody>
      </p:sp>
      <p:pic>
        <p:nvPicPr>
          <p:cNvPr id="1363457971" name="Image 0" descr="preencoded.png"/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 bwMode="auto">
          <a:xfrm>
            <a:off x="458167" y="1728639"/>
            <a:ext cx="261789" cy="261789"/>
          </a:xfrm>
          <a:prstGeom prst="rect">
            <a:avLst/>
          </a:prstGeom>
        </p:spPr>
      </p:pic>
      <p:sp>
        <p:nvSpPr>
          <p:cNvPr id="497109710" name="Text 4"/>
          <p:cNvSpPr/>
          <p:nvPr/>
        </p:nvSpPr>
        <p:spPr bwMode="auto">
          <a:xfrm>
            <a:off x="458167" y="2133600"/>
            <a:ext cx="1540073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200">
                <a:solidFill>
                  <a:srgbClr val="D9E1FF"/>
                </a:solidFill>
                <a:latin typeface="Kanit"/>
                <a:ea typeface="Kanit"/>
                <a:cs typeface="Kanit"/>
              </a:rPr>
              <a:t>Procesos</a:t>
            </a:r>
            <a:endParaRPr lang="en-US" sz="1200"/>
          </a:p>
        </p:txBody>
      </p:sp>
      <p:sp>
        <p:nvSpPr>
          <p:cNvPr id="233474702" name="Text 5"/>
          <p:cNvSpPr/>
          <p:nvPr/>
        </p:nvSpPr>
        <p:spPr bwMode="auto">
          <a:xfrm>
            <a:off x="458167" y="2394793"/>
            <a:ext cx="2647057" cy="196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  <a:defRPr/>
            </a:pPr>
            <a:r>
              <a:rPr lang="en-US" sz="1000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</a:rPr>
              <a:t>Prácticas y actividades operativas</a:t>
            </a:r>
            <a:endParaRPr lang="en-US" sz="1000"/>
          </a:p>
        </p:txBody>
      </p:sp>
      <p:pic>
        <p:nvPicPr>
          <p:cNvPr id="1368776475" name="Image 1" descr="preencoded.png"/>
          <p:cNvPicPr>
            <a:picLocks noChangeAspect="1"/>
          </p:cNvPicPr>
          <p:nvPr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 bwMode="auto">
          <a:xfrm>
            <a:off x="3248397" y="1728639"/>
            <a:ext cx="261789" cy="261789"/>
          </a:xfrm>
          <a:prstGeom prst="rect">
            <a:avLst/>
          </a:prstGeom>
        </p:spPr>
      </p:pic>
      <p:sp>
        <p:nvSpPr>
          <p:cNvPr id="516105919" name="Text 6"/>
          <p:cNvSpPr/>
          <p:nvPr/>
        </p:nvSpPr>
        <p:spPr bwMode="auto">
          <a:xfrm>
            <a:off x="3248397" y="2133600"/>
            <a:ext cx="1760934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200">
                <a:solidFill>
                  <a:srgbClr val="D9E1FF"/>
                </a:solidFill>
                <a:latin typeface="Kanit"/>
                <a:ea typeface="Kanit"/>
                <a:cs typeface="Kanit"/>
              </a:rPr>
              <a:t>Estructuras Organizativas</a:t>
            </a:r>
            <a:endParaRPr lang="en-US" sz="1200"/>
          </a:p>
        </p:txBody>
      </p:sp>
      <p:sp>
        <p:nvSpPr>
          <p:cNvPr id="255200281" name="Text 7"/>
          <p:cNvSpPr/>
          <p:nvPr/>
        </p:nvSpPr>
        <p:spPr bwMode="auto">
          <a:xfrm>
            <a:off x="3248397" y="2394793"/>
            <a:ext cx="2647131" cy="196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  <a:defRPr/>
            </a:pPr>
            <a:r>
              <a:rPr lang="en-US" sz="1000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</a:rPr>
              <a:t>Roles, comités y matrices RACI</a:t>
            </a:r>
            <a:endParaRPr lang="en-US" sz="1000"/>
          </a:p>
        </p:txBody>
      </p:sp>
      <p:pic>
        <p:nvPicPr>
          <p:cNvPr id="577769728" name="Image 2" descr="preencoded.png"/>
          <p:cNvPicPr>
            <a:picLocks noChangeAspect="1"/>
          </p:cNvPicPr>
          <p:nvPr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 bwMode="auto">
          <a:xfrm>
            <a:off x="6038701" y="1728639"/>
            <a:ext cx="261789" cy="261789"/>
          </a:xfrm>
          <a:prstGeom prst="rect">
            <a:avLst/>
          </a:prstGeom>
        </p:spPr>
      </p:pic>
      <p:sp>
        <p:nvSpPr>
          <p:cNvPr id="1377763128" name="Text 8"/>
          <p:cNvSpPr/>
          <p:nvPr/>
        </p:nvSpPr>
        <p:spPr bwMode="auto">
          <a:xfrm>
            <a:off x="6038701" y="2133600"/>
            <a:ext cx="1540073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200">
                <a:solidFill>
                  <a:srgbClr val="D9E1FF"/>
                </a:solidFill>
                <a:latin typeface="Kanit"/>
                <a:ea typeface="Kanit"/>
                <a:cs typeface="Kanit"/>
              </a:rPr>
              <a:t>Flujos de Información</a:t>
            </a:r>
            <a:endParaRPr lang="en-US" sz="1200"/>
          </a:p>
        </p:txBody>
      </p:sp>
      <p:sp>
        <p:nvSpPr>
          <p:cNvPr id="193044014" name="Text 9"/>
          <p:cNvSpPr/>
          <p:nvPr/>
        </p:nvSpPr>
        <p:spPr bwMode="auto">
          <a:xfrm>
            <a:off x="6038701" y="2394793"/>
            <a:ext cx="2647057" cy="196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  <a:defRPr/>
            </a:pPr>
            <a:r>
              <a:rPr lang="en-US" sz="1000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</a:rPr>
              <a:t>Elementos y datos del sistema</a:t>
            </a:r>
            <a:endParaRPr lang="en-US" sz="1000"/>
          </a:p>
        </p:txBody>
      </p:sp>
      <p:pic>
        <p:nvPicPr>
          <p:cNvPr id="180714125" name="Image 3" descr="preencoded.png"/>
          <p:cNvPicPr>
            <a:picLocks noChangeAspect="1"/>
          </p:cNvPicPr>
          <p:nvPr/>
        </p:nvPicPr>
        <p:blipFill rotWithShape="1"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 bwMode="auto">
          <a:xfrm>
            <a:off x="458167" y="2820144"/>
            <a:ext cx="261789" cy="261789"/>
          </a:xfrm>
          <a:prstGeom prst="rect">
            <a:avLst/>
          </a:prstGeom>
        </p:spPr>
      </p:pic>
      <p:sp>
        <p:nvSpPr>
          <p:cNvPr id="2097240012" name="Text 10"/>
          <p:cNvSpPr/>
          <p:nvPr/>
        </p:nvSpPr>
        <p:spPr bwMode="auto">
          <a:xfrm>
            <a:off x="458167" y="3225105"/>
            <a:ext cx="1774775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200">
                <a:solidFill>
                  <a:srgbClr val="D9E1FF"/>
                </a:solidFill>
                <a:latin typeface="Kanit"/>
                <a:ea typeface="Kanit"/>
                <a:cs typeface="Kanit"/>
              </a:rPr>
              <a:t>Personas y Competencias</a:t>
            </a:r>
            <a:endParaRPr lang="en-US" sz="1200"/>
          </a:p>
        </p:txBody>
      </p:sp>
      <p:sp>
        <p:nvSpPr>
          <p:cNvPr id="1409067803" name="Text 11"/>
          <p:cNvSpPr/>
          <p:nvPr/>
        </p:nvSpPr>
        <p:spPr bwMode="auto">
          <a:xfrm>
            <a:off x="458167" y="3486299"/>
            <a:ext cx="2647057" cy="196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  <a:defRPr/>
            </a:pPr>
            <a:r>
              <a:rPr lang="en-US" sz="1000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</a:rPr>
              <a:t>Habilidades y formación del equipo</a:t>
            </a:r>
            <a:endParaRPr lang="en-US" sz="1000"/>
          </a:p>
        </p:txBody>
      </p:sp>
      <p:pic>
        <p:nvPicPr>
          <p:cNvPr id="1125156425" name="Image 4" descr="preencoded.png"/>
          <p:cNvPicPr>
            <a:picLocks noChangeAspect="1"/>
          </p:cNvPicPr>
          <p:nvPr/>
        </p:nvPicPr>
        <p:blipFill rotWithShape="1"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/>
        </p:blipFill>
        <p:spPr bwMode="auto">
          <a:xfrm>
            <a:off x="3248397" y="2820144"/>
            <a:ext cx="261789" cy="261789"/>
          </a:xfrm>
          <a:prstGeom prst="rect">
            <a:avLst/>
          </a:prstGeom>
        </p:spPr>
      </p:pic>
      <p:sp>
        <p:nvSpPr>
          <p:cNvPr id="1118643353" name="Text 12"/>
          <p:cNvSpPr/>
          <p:nvPr/>
        </p:nvSpPr>
        <p:spPr bwMode="auto">
          <a:xfrm>
            <a:off x="3248397" y="3225105"/>
            <a:ext cx="1540073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200">
                <a:solidFill>
                  <a:srgbClr val="D9E1FF"/>
                </a:solidFill>
                <a:latin typeface="Kanit"/>
                <a:ea typeface="Kanit"/>
                <a:cs typeface="Kanit"/>
              </a:rPr>
              <a:t>Principios y Políticas</a:t>
            </a:r>
            <a:endParaRPr lang="en-US" sz="1200"/>
          </a:p>
        </p:txBody>
      </p:sp>
      <p:sp>
        <p:nvSpPr>
          <p:cNvPr id="1406921870" name="Text 13"/>
          <p:cNvSpPr/>
          <p:nvPr/>
        </p:nvSpPr>
        <p:spPr bwMode="auto">
          <a:xfrm>
            <a:off x="3248397" y="3486299"/>
            <a:ext cx="2647131" cy="196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  <a:defRPr/>
            </a:pPr>
            <a:r>
              <a:rPr lang="en-US" sz="1000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</a:rPr>
              <a:t>Procedimientos y normativa interna</a:t>
            </a:r>
            <a:endParaRPr lang="en-US" sz="1000"/>
          </a:p>
        </p:txBody>
      </p:sp>
      <p:pic>
        <p:nvPicPr>
          <p:cNvPr id="2057124617" name="Image 5" descr="preencoded.png"/>
          <p:cNvPicPr>
            <a:picLocks noChangeAspect="1"/>
          </p:cNvPicPr>
          <p:nvPr/>
        </p:nvPicPr>
        <p:blipFill rotWithShape="1"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/>
        </p:blipFill>
        <p:spPr bwMode="auto">
          <a:xfrm>
            <a:off x="6038701" y="2820144"/>
            <a:ext cx="261789" cy="261789"/>
          </a:xfrm>
          <a:prstGeom prst="rect">
            <a:avLst/>
          </a:prstGeom>
        </p:spPr>
      </p:pic>
      <p:sp>
        <p:nvSpPr>
          <p:cNvPr id="573629633" name="Text 14"/>
          <p:cNvSpPr/>
          <p:nvPr/>
        </p:nvSpPr>
        <p:spPr bwMode="auto">
          <a:xfrm>
            <a:off x="6038701" y="3225105"/>
            <a:ext cx="1540073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200">
                <a:solidFill>
                  <a:srgbClr val="D9E1FF"/>
                </a:solidFill>
                <a:latin typeface="Kanit"/>
                <a:ea typeface="Kanit"/>
                <a:cs typeface="Kanit"/>
              </a:rPr>
              <a:t>Cultura y Ética</a:t>
            </a:r>
            <a:endParaRPr lang="en-US" sz="1200"/>
          </a:p>
        </p:txBody>
      </p:sp>
      <p:sp>
        <p:nvSpPr>
          <p:cNvPr id="558057634" name="Text 15"/>
          <p:cNvSpPr/>
          <p:nvPr/>
        </p:nvSpPr>
        <p:spPr bwMode="auto">
          <a:xfrm>
            <a:off x="6038701" y="3486299"/>
            <a:ext cx="2647057" cy="196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  <a:defRPr/>
            </a:pPr>
            <a:r>
              <a:rPr lang="en-US" sz="1000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</a:rPr>
              <a:t>Comportamiento y valores organizativos</a:t>
            </a:r>
            <a:endParaRPr lang="en-US" sz="1000"/>
          </a:p>
        </p:txBody>
      </p:sp>
      <p:pic>
        <p:nvPicPr>
          <p:cNvPr id="874114029" name="Image 6" descr="preencoded.png"/>
          <p:cNvPicPr>
            <a:picLocks noChangeAspect="1"/>
          </p:cNvPicPr>
          <p:nvPr/>
        </p:nvPicPr>
        <p:blipFill rotWithShape="1"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/>
        </p:blipFill>
        <p:spPr bwMode="auto">
          <a:xfrm>
            <a:off x="458167" y="3911650"/>
            <a:ext cx="261789" cy="261789"/>
          </a:xfrm>
          <a:prstGeom prst="rect">
            <a:avLst/>
          </a:prstGeom>
        </p:spPr>
      </p:pic>
      <p:sp>
        <p:nvSpPr>
          <p:cNvPr id="154888768" name="Text 16"/>
          <p:cNvSpPr/>
          <p:nvPr/>
        </p:nvSpPr>
        <p:spPr bwMode="auto">
          <a:xfrm>
            <a:off x="458167" y="4316611"/>
            <a:ext cx="1790328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200">
                <a:solidFill>
                  <a:srgbClr val="D9E1FF"/>
                </a:solidFill>
                <a:latin typeface="Kanit"/>
                <a:ea typeface="Kanit"/>
                <a:cs typeface="Kanit"/>
              </a:rPr>
              <a:t>Servicios e Infraestructura</a:t>
            </a:r>
            <a:endParaRPr lang="en-US" sz="1200"/>
          </a:p>
        </p:txBody>
      </p:sp>
      <p:sp>
        <p:nvSpPr>
          <p:cNvPr id="204329288" name="Text 17"/>
          <p:cNvSpPr/>
          <p:nvPr/>
        </p:nvSpPr>
        <p:spPr bwMode="auto">
          <a:xfrm>
            <a:off x="458167" y="4577804"/>
            <a:ext cx="2647057" cy="196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  <a:defRPr/>
            </a:pPr>
            <a:r>
              <a:rPr lang="en-US" sz="1000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</a:rPr>
              <a:t>Aplicaciones y tecnología habilitante</a:t>
            </a:r>
            <a:endParaRPr lang="en-US" sz="1000"/>
          </a:p>
        </p:txBody>
      </p:sp>
      <p:sp>
        <p:nvSpPr>
          <p:cNvPr id="17079430" name="Shape 2"/>
          <p:cNvSpPr/>
          <p:nvPr/>
        </p:nvSpPr>
        <p:spPr bwMode="auto">
          <a:xfrm flipH="0" flipV="0">
            <a:off x="8011354" y="4862363"/>
            <a:ext cx="1080590" cy="281135"/>
          </a:xfrm>
          <a:prstGeom prst="roundRect">
            <a:avLst>
              <a:gd name="adj" fmla="val 6386"/>
            </a:avLst>
          </a:prstGeom>
          <a:solidFill>
            <a:srgbClr val="4C0107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1094556" name="Shape 0"/>
          <p:cNvSpPr/>
          <p:nvPr/>
        </p:nvSpPr>
        <p:spPr bwMode="auto">
          <a:xfrm>
            <a:off x="1383953" y="312837"/>
            <a:ext cx="540395" cy="162892"/>
          </a:xfrm>
          <a:prstGeom prst="roundRect">
            <a:avLst>
              <a:gd name="adj" fmla="val 7233"/>
            </a:avLst>
          </a:prstGeom>
          <a:solidFill>
            <a:srgbClr val="4C0107"/>
          </a:solidFill>
          <a:ln/>
        </p:spPr>
      </p:sp>
      <p:sp>
        <p:nvSpPr>
          <p:cNvPr id="1321679563" name="Text 1"/>
          <p:cNvSpPr/>
          <p:nvPr/>
        </p:nvSpPr>
        <p:spPr bwMode="auto">
          <a:xfrm>
            <a:off x="1442814" y="342230"/>
            <a:ext cx="879872" cy="104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  <a:defRPr/>
            </a:pPr>
            <a:r>
              <a:rPr lang="en-US" sz="600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</a:rPr>
              <a:t>COBIT 2019</a:t>
            </a:r>
            <a:endParaRPr lang="en-US" sz="600"/>
          </a:p>
        </p:txBody>
      </p:sp>
      <p:sp>
        <p:nvSpPr>
          <p:cNvPr id="2103925308" name="Text 2"/>
          <p:cNvSpPr/>
          <p:nvPr/>
        </p:nvSpPr>
        <p:spPr bwMode="auto">
          <a:xfrm>
            <a:off x="1383953" y="501476"/>
            <a:ext cx="4562921" cy="288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800">
                <a:solidFill>
                  <a:srgbClr val="FFFFFF"/>
                </a:solidFill>
                <a:latin typeface="Kanit"/>
                <a:ea typeface="Kanit"/>
                <a:cs typeface="Kanit"/>
              </a:rPr>
              <a:t>Adaptabilidad: Los 11 Factores de Diseño</a:t>
            </a:r>
            <a:endParaRPr lang="en-US" sz="1800"/>
          </a:p>
        </p:txBody>
      </p:sp>
      <p:sp>
        <p:nvSpPr>
          <p:cNvPr id="417444360" name="Text 3"/>
          <p:cNvSpPr/>
          <p:nvPr/>
        </p:nvSpPr>
        <p:spPr bwMode="auto">
          <a:xfrm>
            <a:off x="1383953" y="2298502"/>
            <a:ext cx="3068315" cy="3900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  <a:defRPr/>
            </a:pPr>
            <a:r>
              <a:rPr lang="en-US" sz="750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</a:rPr>
              <a:t>COBIT 2019 abandona el enfoque de </a:t>
            </a:r>
            <a:r>
              <a:rPr lang="en-US" sz="750" b="1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</a:rPr>
              <a:t>"talla única"</a:t>
            </a:r>
            <a:r>
              <a:rPr lang="en-US" sz="750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</a:rPr>
              <a:t>. Reconoce que cada organización es distinta y permite priorizar los objetivos de gobierno mediante </a:t>
            </a:r>
            <a:r>
              <a:rPr lang="en-US" sz="750" b="1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</a:rPr>
              <a:t>11 factores de diseño</a:t>
            </a:r>
            <a:r>
              <a:rPr lang="en-US" sz="750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</a:rPr>
              <a:t>.</a:t>
            </a:r>
            <a:endParaRPr lang="en-US" sz="750"/>
          </a:p>
        </p:txBody>
      </p:sp>
      <p:pic>
        <p:nvPicPr>
          <p:cNvPr id="379989289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696495" y="959346"/>
            <a:ext cx="3068315" cy="3068315"/>
          </a:xfrm>
          <a:prstGeom prst="rect">
            <a:avLst/>
          </a:prstGeom>
        </p:spPr>
      </p:pic>
      <p:pic>
        <p:nvPicPr>
          <p:cNvPr id="1367275679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4696495" y="959346"/>
            <a:ext cx="3068315" cy="3068315"/>
          </a:xfrm>
          <a:prstGeom prst="rect">
            <a:avLst/>
          </a:prstGeom>
        </p:spPr>
      </p:pic>
      <p:sp>
        <p:nvSpPr>
          <p:cNvPr id="1245633660" name="Shape 4"/>
          <p:cNvSpPr/>
          <p:nvPr/>
        </p:nvSpPr>
        <p:spPr bwMode="auto">
          <a:xfrm>
            <a:off x="1383953" y="4172620"/>
            <a:ext cx="1545729" cy="657968"/>
          </a:xfrm>
          <a:prstGeom prst="roundRect">
            <a:avLst>
              <a:gd name="adj" fmla="val 10423"/>
            </a:avLst>
          </a:prstGeom>
          <a:solidFill>
            <a:srgbClr val="100C35"/>
          </a:solidFill>
          <a:ln w="14288">
            <a:solidFill>
              <a:srgbClr val="48446D"/>
            </a:solidFill>
            <a:prstDash val="solid"/>
          </a:ln>
        </p:spPr>
      </p:sp>
      <p:pic>
        <p:nvPicPr>
          <p:cNvPr id="1901835625" name="Image 2" descr="preencoded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1369665" y="4172620"/>
            <a:ext cx="57150" cy="657968"/>
          </a:xfrm>
          <a:prstGeom prst="rect">
            <a:avLst/>
          </a:prstGeom>
        </p:spPr>
      </p:pic>
      <p:sp>
        <p:nvSpPr>
          <p:cNvPr id="50618535" name="Text 5"/>
          <p:cNvSpPr/>
          <p:nvPr/>
        </p:nvSpPr>
        <p:spPr bwMode="auto">
          <a:xfrm>
            <a:off x="1539255" y="4285059"/>
            <a:ext cx="1158850" cy="144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900">
                <a:solidFill>
                  <a:srgbClr val="D9E1FF"/>
                </a:solidFill>
                <a:latin typeface="Kanit"/>
                <a:ea typeface="Kanit"/>
                <a:cs typeface="Kanit"/>
              </a:rPr>
              <a:t>Estrategia empresarial</a:t>
            </a:r>
            <a:endParaRPr lang="en-US" sz="900"/>
          </a:p>
        </p:txBody>
      </p:sp>
      <p:sp>
        <p:nvSpPr>
          <p:cNvPr id="635410840" name="Shape 6"/>
          <p:cNvSpPr/>
          <p:nvPr/>
        </p:nvSpPr>
        <p:spPr bwMode="auto">
          <a:xfrm>
            <a:off x="2994050" y="4172620"/>
            <a:ext cx="1545729" cy="657968"/>
          </a:xfrm>
          <a:prstGeom prst="roundRect">
            <a:avLst>
              <a:gd name="adj" fmla="val 10423"/>
            </a:avLst>
          </a:prstGeom>
          <a:solidFill>
            <a:srgbClr val="100C35"/>
          </a:solidFill>
          <a:ln w="14288">
            <a:solidFill>
              <a:srgbClr val="48446D"/>
            </a:solidFill>
            <a:prstDash val="solid"/>
          </a:ln>
        </p:spPr>
      </p:sp>
      <p:pic>
        <p:nvPicPr>
          <p:cNvPr id="2090827033" name="Image 3" descr="preencoded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2979762" y="4172620"/>
            <a:ext cx="57150" cy="657968"/>
          </a:xfrm>
          <a:prstGeom prst="rect">
            <a:avLst/>
          </a:prstGeom>
        </p:spPr>
      </p:pic>
      <p:sp>
        <p:nvSpPr>
          <p:cNvPr id="1168813253" name="Text 7"/>
          <p:cNvSpPr/>
          <p:nvPr/>
        </p:nvSpPr>
        <p:spPr bwMode="auto">
          <a:xfrm>
            <a:off x="3149352" y="4285059"/>
            <a:ext cx="1277987" cy="288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900">
                <a:solidFill>
                  <a:srgbClr val="D9E1FF"/>
                </a:solidFill>
                <a:latin typeface="Kanit"/>
                <a:ea typeface="Kanit"/>
                <a:cs typeface="Kanit"/>
              </a:rPr>
              <a:t>Perfil de riesgo y amenazas</a:t>
            </a:r>
            <a:endParaRPr lang="en-US" sz="900"/>
          </a:p>
        </p:txBody>
      </p:sp>
      <p:sp>
        <p:nvSpPr>
          <p:cNvPr id="1380140187" name="Shape 8"/>
          <p:cNvSpPr/>
          <p:nvPr/>
        </p:nvSpPr>
        <p:spPr bwMode="auto">
          <a:xfrm>
            <a:off x="4604147" y="4172620"/>
            <a:ext cx="1545729" cy="657968"/>
          </a:xfrm>
          <a:prstGeom prst="roundRect">
            <a:avLst>
              <a:gd name="adj" fmla="val 10423"/>
            </a:avLst>
          </a:prstGeom>
          <a:solidFill>
            <a:srgbClr val="100C35"/>
          </a:solidFill>
          <a:ln w="14288">
            <a:solidFill>
              <a:srgbClr val="48446D"/>
            </a:solidFill>
            <a:prstDash val="solid"/>
          </a:ln>
        </p:spPr>
      </p:sp>
      <p:pic>
        <p:nvPicPr>
          <p:cNvPr id="1032988699" name="Image 4" descr="preencoded.png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4589859" y="4172620"/>
            <a:ext cx="57150" cy="657968"/>
          </a:xfrm>
          <a:prstGeom prst="rect">
            <a:avLst/>
          </a:prstGeom>
        </p:spPr>
      </p:pic>
      <p:sp>
        <p:nvSpPr>
          <p:cNvPr id="1216686425" name="Text 9"/>
          <p:cNvSpPr/>
          <p:nvPr/>
        </p:nvSpPr>
        <p:spPr bwMode="auto">
          <a:xfrm>
            <a:off x="4759449" y="4285059"/>
            <a:ext cx="1277987" cy="288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900">
                <a:solidFill>
                  <a:srgbClr val="D9E1FF"/>
                </a:solidFill>
                <a:latin typeface="Kanit"/>
                <a:ea typeface="Kanit"/>
                <a:cs typeface="Kanit"/>
              </a:rPr>
              <a:t>Cumplimiento normativo</a:t>
            </a:r>
            <a:endParaRPr lang="en-US" sz="900"/>
          </a:p>
        </p:txBody>
      </p:sp>
      <p:sp>
        <p:nvSpPr>
          <p:cNvPr id="618191940" name="Shape 10"/>
          <p:cNvSpPr/>
          <p:nvPr/>
        </p:nvSpPr>
        <p:spPr bwMode="auto">
          <a:xfrm>
            <a:off x="6214244" y="4172620"/>
            <a:ext cx="1545803" cy="657968"/>
          </a:xfrm>
          <a:prstGeom prst="roundRect">
            <a:avLst>
              <a:gd name="adj" fmla="val 10423"/>
            </a:avLst>
          </a:prstGeom>
          <a:solidFill>
            <a:srgbClr val="100C35"/>
          </a:solidFill>
          <a:ln w="14288">
            <a:solidFill>
              <a:srgbClr val="48446D"/>
            </a:solidFill>
            <a:prstDash val="solid"/>
          </a:ln>
        </p:spPr>
      </p:sp>
      <p:pic>
        <p:nvPicPr>
          <p:cNvPr id="2087196492" name="Image 5" descr="preencoded.png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>
            <a:off x="6199956" y="4172620"/>
            <a:ext cx="57150" cy="657968"/>
          </a:xfrm>
          <a:prstGeom prst="rect">
            <a:avLst/>
          </a:prstGeom>
        </p:spPr>
      </p:pic>
      <p:sp>
        <p:nvSpPr>
          <p:cNvPr id="435943868" name="Text 11"/>
          <p:cNvSpPr/>
          <p:nvPr/>
        </p:nvSpPr>
        <p:spPr bwMode="auto">
          <a:xfrm>
            <a:off x="6369546" y="4285059"/>
            <a:ext cx="1278062" cy="433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900">
                <a:solidFill>
                  <a:srgbClr val="D9E1FF"/>
                </a:solidFill>
                <a:latin typeface="Kanit"/>
                <a:ea typeface="Kanit"/>
                <a:cs typeface="Kanit"/>
              </a:rPr>
              <a:t>Modelo de abastecimiento (cloud, outsourcing)</a:t>
            </a:r>
            <a:endParaRPr lang="en-US" sz="900"/>
          </a:p>
        </p:txBody>
      </p:sp>
      <p:sp>
        <p:nvSpPr>
          <p:cNvPr id="1349434902" name="Shape 2"/>
          <p:cNvSpPr/>
          <p:nvPr/>
        </p:nvSpPr>
        <p:spPr bwMode="auto">
          <a:xfrm flipH="0" flipV="0">
            <a:off x="8011354" y="4862363"/>
            <a:ext cx="1080590" cy="281135"/>
          </a:xfrm>
          <a:prstGeom prst="roundRect">
            <a:avLst>
              <a:gd name="adj" fmla="val 6386"/>
            </a:avLst>
          </a:prstGeom>
          <a:solidFill>
            <a:srgbClr val="4C0107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56844286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14447358" name="Shape 0"/>
          <p:cNvSpPr/>
          <p:nvPr/>
        </p:nvSpPr>
        <p:spPr bwMode="auto">
          <a:xfrm>
            <a:off x="409054" y="369466"/>
            <a:ext cx="953765" cy="203374"/>
          </a:xfrm>
          <a:prstGeom prst="roundRect">
            <a:avLst>
              <a:gd name="adj" fmla="val 6897"/>
            </a:avLst>
          </a:prstGeom>
          <a:solidFill>
            <a:srgbClr val="4C0107"/>
          </a:solidFill>
          <a:ln/>
        </p:spPr>
      </p:sp>
      <p:sp>
        <p:nvSpPr>
          <p:cNvPr id="1267813587" name="Text 1"/>
          <p:cNvSpPr/>
          <p:nvPr/>
        </p:nvSpPr>
        <p:spPr bwMode="auto">
          <a:xfrm>
            <a:off x="479152" y="404515"/>
            <a:ext cx="1270769" cy="133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  <a:defRPr/>
            </a:pPr>
            <a:r>
              <a:rPr lang="en-US" sz="700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</a:rPr>
              <a:t>AUDITORÍA COBIT</a:t>
            </a:r>
            <a:endParaRPr lang="en-US" sz="700"/>
          </a:p>
        </p:txBody>
      </p:sp>
      <p:sp>
        <p:nvSpPr>
          <p:cNvPr id="1179593192" name="Text 2"/>
          <p:cNvSpPr/>
          <p:nvPr/>
        </p:nvSpPr>
        <p:spPr bwMode="auto">
          <a:xfrm>
            <a:off x="409054" y="609302"/>
            <a:ext cx="4896892" cy="687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2150">
                <a:solidFill>
                  <a:srgbClr val="FFFFFF"/>
                </a:solidFill>
                <a:latin typeface="Kanit"/>
                <a:ea typeface="Kanit"/>
                <a:cs typeface="Kanit"/>
              </a:rPr>
              <a:t>Auditoría bajo COBIT 2019: Enfoque Estratégico</a:t>
            </a:r>
            <a:endParaRPr lang="en-US" sz="2150"/>
          </a:p>
        </p:txBody>
      </p:sp>
      <p:pic>
        <p:nvPicPr>
          <p:cNvPr id="1241107440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409054" y="1433810"/>
            <a:ext cx="584374" cy="959941"/>
          </a:xfrm>
          <a:prstGeom prst="rect">
            <a:avLst/>
          </a:prstGeom>
        </p:spPr>
      </p:pic>
      <p:sp>
        <p:nvSpPr>
          <p:cNvPr id="1651441738" name="Text 3"/>
          <p:cNvSpPr/>
          <p:nvPr/>
        </p:nvSpPr>
        <p:spPr bwMode="auto">
          <a:xfrm>
            <a:off x="1084734" y="1550640"/>
            <a:ext cx="1375097" cy="171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050">
                <a:solidFill>
                  <a:srgbClr val="D9E1FF"/>
                </a:solidFill>
                <a:latin typeface="Kanit"/>
                <a:ea typeface="Kanit"/>
                <a:cs typeface="Kanit"/>
              </a:rPr>
              <a:t>Alineación Estratégica</a:t>
            </a:r>
            <a:endParaRPr lang="en-US" sz="1050"/>
          </a:p>
        </p:txBody>
      </p:sp>
      <p:sp>
        <p:nvSpPr>
          <p:cNvPr id="1475609925" name="Text 4"/>
          <p:cNvSpPr/>
          <p:nvPr/>
        </p:nvSpPr>
        <p:spPr bwMode="auto">
          <a:xfrm>
            <a:off x="1084734" y="1777305"/>
            <a:ext cx="4221212" cy="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  <a:defRPr/>
            </a:pPr>
            <a:r>
              <a:rPr lang="en-US" sz="900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</a:rPr>
              <a:t>Rastrear la </a:t>
            </a:r>
            <a:r>
              <a:rPr lang="en-US" sz="900" b="1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</a:rPr>
              <a:t>Cascada de Metas</a:t>
            </a:r>
            <a:r>
              <a:rPr lang="en-US" sz="900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</a:rPr>
              <a:t>: desde las necesidades de los stakeholders hasta las 13 metas de alineamiento de TI. TI desconectada de la estrategia = hallazgo crítico.</a:t>
            </a:r>
            <a:endParaRPr lang="en-US" sz="900"/>
          </a:p>
        </p:txBody>
      </p:sp>
      <p:pic>
        <p:nvPicPr>
          <p:cNvPr id="1949797962" name="Image 2" descr="preencoded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409054" y="2393752"/>
            <a:ext cx="584374" cy="793403"/>
          </a:xfrm>
          <a:prstGeom prst="rect">
            <a:avLst/>
          </a:prstGeom>
        </p:spPr>
      </p:pic>
      <p:sp>
        <p:nvSpPr>
          <p:cNvPr id="503064028" name="Text 5"/>
          <p:cNvSpPr/>
          <p:nvPr/>
        </p:nvSpPr>
        <p:spPr bwMode="auto">
          <a:xfrm>
            <a:off x="1084734" y="2510582"/>
            <a:ext cx="1375097" cy="171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050">
                <a:solidFill>
                  <a:srgbClr val="D9E1FF"/>
                </a:solidFill>
                <a:latin typeface="Kanit"/>
                <a:ea typeface="Kanit"/>
                <a:cs typeface="Kanit"/>
              </a:rPr>
              <a:t>Evaluación Holística</a:t>
            </a:r>
            <a:endParaRPr lang="en-US" sz="1050"/>
          </a:p>
        </p:txBody>
      </p:sp>
      <p:sp>
        <p:nvSpPr>
          <p:cNvPr id="1601210900" name="Text 6"/>
          <p:cNvSpPr/>
          <p:nvPr/>
        </p:nvSpPr>
        <p:spPr bwMode="auto">
          <a:xfrm>
            <a:off x="1084734" y="2737247"/>
            <a:ext cx="4221212" cy="3330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  <a:defRPr/>
            </a:pPr>
            <a:r>
              <a:rPr lang="en-US" sz="900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</a:rPr>
              <a:t>Evaluar los </a:t>
            </a:r>
            <a:r>
              <a:rPr lang="en-US" sz="900" b="1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</a:rPr>
              <a:t>40 objetivos</a:t>
            </a:r>
            <a:r>
              <a:rPr lang="en-US" sz="900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</a:rPr>
              <a:t> cruzándolos con los 7 componentes: políticas, RACI, competencias, cultura, infraestructura.</a:t>
            </a:r>
            <a:endParaRPr lang="en-US" sz="900"/>
          </a:p>
        </p:txBody>
      </p:sp>
      <p:pic>
        <p:nvPicPr>
          <p:cNvPr id="845570265" name="Image 3" descr="preencoded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409054" y="3187154"/>
            <a:ext cx="584374" cy="793403"/>
          </a:xfrm>
          <a:prstGeom prst="rect">
            <a:avLst/>
          </a:prstGeom>
        </p:spPr>
      </p:pic>
      <p:sp>
        <p:nvSpPr>
          <p:cNvPr id="497039817" name="Text 7"/>
          <p:cNvSpPr/>
          <p:nvPr/>
        </p:nvSpPr>
        <p:spPr bwMode="auto">
          <a:xfrm>
            <a:off x="1084734" y="3303984"/>
            <a:ext cx="1527125" cy="171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050">
                <a:solidFill>
                  <a:srgbClr val="D9E1FF"/>
                </a:solidFill>
                <a:latin typeface="Kanit"/>
                <a:ea typeface="Kanit"/>
                <a:cs typeface="Kanit"/>
              </a:rPr>
              <a:t>Verificación del Tailoring</a:t>
            </a:r>
            <a:endParaRPr lang="en-US" sz="1050"/>
          </a:p>
        </p:txBody>
      </p:sp>
      <p:sp>
        <p:nvSpPr>
          <p:cNvPr id="127007599" name="Text 8"/>
          <p:cNvSpPr/>
          <p:nvPr/>
        </p:nvSpPr>
        <p:spPr bwMode="auto">
          <a:xfrm>
            <a:off x="1084734" y="3530650"/>
            <a:ext cx="4221212" cy="3330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  <a:defRPr/>
            </a:pPr>
            <a:r>
              <a:rPr lang="en-US" sz="900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</a:rPr>
              <a:t>Validar si la organización aplicó los </a:t>
            </a:r>
            <a:r>
              <a:rPr lang="en-US" sz="900" b="1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</a:rPr>
              <a:t>factores de diseño</a:t>
            </a:r>
            <a:r>
              <a:rPr lang="en-US" sz="900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</a:rPr>
              <a:t> para priorizar esfuerzos. No auditar todo con el mismo rigor.</a:t>
            </a:r>
            <a:endParaRPr lang="en-US" sz="900"/>
          </a:p>
        </p:txBody>
      </p:sp>
      <p:pic>
        <p:nvPicPr>
          <p:cNvPr id="918987228" name="Image 4" descr="preencoded.png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409054" y="3980557"/>
            <a:ext cx="584374" cy="793403"/>
          </a:xfrm>
          <a:prstGeom prst="rect">
            <a:avLst/>
          </a:prstGeom>
        </p:spPr>
      </p:pic>
      <p:sp>
        <p:nvSpPr>
          <p:cNvPr id="1674984623" name="Text 9"/>
          <p:cNvSpPr/>
          <p:nvPr/>
        </p:nvSpPr>
        <p:spPr bwMode="auto">
          <a:xfrm>
            <a:off x="1084734" y="4097387"/>
            <a:ext cx="1375097" cy="171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050">
                <a:solidFill>
                  <a:srgbClr val="D9E1FF"/>
                </a:solidFill>
                <a:latin typeface="Kanit"/>
                <a:ea typeface="Kanit"/>
                <a:cs typeface="Kanit"/>
              </a:rPr>
              <a:t>Dominio MEA</a:t>
            </a:r>
            <a:endParaRPr lang="en-US" sz="1050"/>
          </a:p>
        </p:txBody>
      </p:sp>
      <p:sp>
        <p:nvSpPr>
          <p:cNvPr id="1744851005" name="Text 10"/>
          <p:cNvSpPr/>
          <p:nvPr/>
        </p:nvSpPr>
        <p:spPr bwMode="auto">
          <a:xfrm>
            <a:off x="1084734" y="4324052"/>
            <a:ext cx="4221212" cy="3330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  <a:defRPr/>
            </a:pPr>
            <a:r>
              <a:rPr lang="en-US" sz="900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</a:rPr>
              <a:t>Evaluar si la organización </a:t>
            </a:r>
            <a:r>
              <a:rPr lang="en-US" sz="900" b="1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</a:rPr>
              <a:t>se audita a sí misma</a:t>
            </a:r>
            <a:r>
              <a:rPr lang="en-US" sz="900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</a:rPr>
              <a:t>: KPIs, control interno y cumplimiento regulatorio continuo.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7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4772021" name="Shape 0"/>
          <p:cNvSpPr/>
          <p:nvPr/>
        </p:nvSpPr>
        <p:spPr bwMode="auto">
          <a:xfrm>
            <a:off x="523577" y="602828"/>
            <a:ext cx="1221060" cy="281136"/>
          </a:xfrm>
          <a:prstGeom prst="roundRect">
            <a:avLst>
              <a:gd name="adj" fmla="val 6386"/>
            </a:avLst>
          </a:prstGeom>
          <a:solidFill>
            <a:srgbClr val="4C0107"/>
          </a:solidFill>
          <a:ln/>
        </p:spPr>
      </p:sp>
      <p:sp>
        <p:nvSpPr>
          <p:cNvPr id="456158011" name="Text 1"/>
          <p:cNvSpPr/>
          <p:nvPr/>
        </p:nvSpPr>
        <p:spPr bwMode="auto">
          <a:xfrm>
            <a:off x="613320" y="647700"/>
            <a:ext cx="1498774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900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</a:rPr>
              <a:t>AUDITORÍA COBIT</a:t>
            </a:r>
            <a:endParaRPr lang="en-US" sz="900"/>
          </a:p>
        </p:txBody>
      </p:sp>
      <p:sp>
        <p:nvSpPr>
          <p:cNvPr id="970521764" name="Text 2"/>
          <p:cNvSpPr/>
          <p:nvPr/>
        </p:nvSpPr>
        <p:spPr bwMode="auto">
          <a:xfrm>
            <a:off x="523577" y="943794"/>
            <a:ext cx="6284268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2750">
                <a:solidFill>
                  <a:srgbClr val="FFFFFF"/>
                </a:solidFill>
                <a:latin typeface="Kanit"/>
                <a:ea typeface="Kanit"/>
                <a:cs typeface="Kanit"/>
              </a:rPr>
              <a:t>Quick Wins y Ciclo de Control Interno</a:t>
            </a:r>
            <a:endParaRPr lang="en-US" sz="2750"/>
          </a:p>
        </p:txBody>
      </p:sp>
      <p:sp>
        <p:nvSpPr>
          <p:cNvPr id="1215228384" name="Text 3"/>
          <p:cNvSpPr/>
          <p:nvPr/>
        </p:nvSpPr>
        <p:spPr bwMode="auto">
          <a:xfrm>
            <a:off x="523577" y="1757735"/>
            <a:ext cx="3192587" cy="224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350">
                <a:solidFill>
                  <a:srgbClr val="000000"/>
                </a:solidFill>
                <a:latin typeface="Kanit"/>
                <a:ea typeface="Kanit"/>
                <a:cs typeface="Kanit"/>
              </a:rPr>
              <a:t>🏆</a:t>
            </a:r>
            <a:r>
              <a:rPr lang="en-US" sz="1350">
                <a:solidFill>
                  <a:srgbClr val="FFFFFF"/>
                </a:solidFill>
                <a:latin typeface="Kanit"/>
                <a:ea typeface="Kanit"/>
                <a:cs typeface="Kanit"/>
              </a:rPr>
              <a:t> Orientación a Victorias Rápidas</a:t>
            </a:r>
            <a:endParaRPr lang="en-US" sz="1350"/>
          </a:p>
        </p:txBody>
      </p:sp>
      <p:sp>
        <p:nvSpPr>
          <p:cNvPr id="1598129058" name="Text 4"/>
          <p:cNvSpPr/>
          <p:nvPr/>
        </p:nvSpPr>
        <p:spPr bwMode="auto">
          <a:xfrm>
            <a:off x="523577" y="2132037"/>
            <a:ext cx="3865959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150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</a:rPr>
              <a:t>Las implementaciones exitosas son </a:t>
            </a:r>
            <a:r>
              <a:rPr lang="en-US" sz="1150" b="1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</a:rPr>
              <a:t>iterativas</a:t>
            </a:r>
            <a:r>
              <a:rPr lang="en-US" sz="1150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</a:rPr>
              <a:t>. El auditor debe reconocer el enfoque de mejora continua y </a:t>
            </a:r>
            <a:r>
              <a:rPr lang="en-US" sz="1150" b="1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</a:rPr>
              <a:t>no penalizar</a:t>
            </a:r>
            <a:r>
              <a:rPr lang="en-US" sz="1150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</a:rPr>
              <a:t> por no tener el 100% de los 40 objetivos implementados en el primer año.</a:t>
            </a:r>
            <a:endParaRPr lang="en-US" sz="1150"/>
          </a:p>
        </p:txBody>
      </p:sp>
      <p:sp>
        <p:nvSpPr>
          <p:cNvPr id="1566607522" name="Shape 5"/>
          <p:cNvSpPr/>
          <p:nvPr/>
        </p:nvSpPr>
        <p:spPr bwMode="auto">
          <a:xfrm>
            <a:off x="523577" y="3257848"/>
            <a:ext cx="3865959" cy="1114499"/>
          </a:xfrm>
          <a:prstGeom prst="roundRect">
            <a:avLst>
              <a:gd name="adj" fmla="val 2014"/>
            </a:avLst>
          </a:prstGeom>
          <a:solidFill>
            <a:srgbClr val="183A13"/>
          </a:solidFill>
          <a:ln/>
        </p:spPr>
      </p:sp>
      <p:pic>
        <p:nvPicPr>
          <p:cNvPr id="1558935025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73150" y="3466281"/>
            <a:ext cx="187003" cy="149572"/>
          </a:xfrm>
          <a:prstGeom prst="rect">
            <a:avLst/>
          </a:prstGeom>
        </p:spPr>
      </p:pic>
      <p:sp>
        <p:nvSpPr>
          <p:cNvPr id="1770142214" name="Text 6"/>
          <p:cNvSpPr/>
          <p:nvPr/>
        </p:nvSpPr>
        <p:spPr bwMode="auto">
          <a:xfrm>
            <a:off x="1009724" y="3444776"/>
            <a:ext cx="3230240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150">
                <a:solidFill>
                  <a:srgbClr val="FFFFFF"/>
                </a:solidFill>
                <a:latin typeface="Martel Sans Light"/>
                <a:ea typeface="Martel Sans Light"/>
                <a:cs typeface="Martel Sans Light"/>
              </a:rPr>
              <a:t>Las victorias tempranas generan valor rápido y fortalecen el compromiso de la alta dirección.</a:t>
            </a:r>
            <a:endParaRPr lang="en-US" sz="1150"/>
          </a:p>
        </p:txBody>
      </p:sp>
      <p:sp>
        <p:nvSpPr>
          <p:cNvPr id="1234847802" name="Text 7"/>
          <p:cNvSpPr/>
          <p:nvPr/>
        </p:nvSpPr>
        <p:spPr bwMode="auto">
          <a:xfrm>
            <a:off x="4759226" y="1757735"/>
            <a:ext cx="3203004" cy="224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350">
                <a:solidFill>
                  <a:srgbClr val="000000"/>
                </a:solidFill>
                <a:latin typeface="Kanit"/>
                <a:ea typeface="Kanit"/>
                <a:cs typeface="Kanit"/>
              </a:rPr>
              <a:t>🔍</a:t>
            </a:r>
            <a:r>
              <a:rPr lang="en-US" sz="1350">
                <a:solidFill>
                  <a:srgbClr val="FFFFFF"/>
                </a:solidFill>
                <a:latin typeface="Kanit"/>
                <a:ea typeface="Kanit"/>
                <a:cs typeface="Kanit"/>
              </a:rPr>
              <a:t> Dominio MEA: Auditoría Interna</a:t>
            </a:r>
            <a:endParaRPr lang="en-US" sz="1350"/>
          </a:p>
        </p:txBody>
      </p:sp>
      <p:sp>
        <p:nvSpPr>
          <p:cNvPr id="1799825902" name="Text 8"/>
          <p:cNvSpPr/>
          <p:nvPr/>
        </p:nvSpPr>
        <p:spPr bwMode="auto">
          <a:xfrm>
            <a:off x="4759226" y="2132037"/>
            <a:ext cx="3865959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150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</a:rPr>
              <a:t>El dominio </a:t>
            </a:r>
            <a:r>
              <a:rPr lang="en-US" sz="1150" b="1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</a:rPr>
              <a:t>MEA (Monitorizar, Evaluar y Valorar)</a:t>
            </a:r>
            <a:r>
              <a:rPr lang="en-US" sz="1150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</a:rPr>
              <a:t> es el equivalente natural de la auditoría y el control de calidad dentro de COBIT.</a:t>
            </a:r>
            <a:endParaRPr lang="en-US" sz="1150"/>
          </a:p>
        </p:txBody>
      </p:sp>
      <p:sp>
        <p:nvSpPr>
          <p:cNvPr id="1087321599" name="Text 9"/>
          <p:cNvSpPr/>
          <p:nvPr/>
        </p:nvSpPr>
        <p:spPr bwMode="auto">
          <a:xfrm>
            <a:off x="4759226" y="2984822"/>
            <a:ext cx="3865959" cy="8227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  <a:defRPr/>
            </a:pPr>
            <a:r>
              <a:rPr lang="en-US" sz="1150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</a:rPr>
              <a:t>Existencia de KPIs de rendimiento</a:t>
            </a:r>
            <a:endParaRPr lang="en-US" sz="1150"/>
          </a:p>
          <a:p>
            <a:pPr marL="342900" indent="-342900" algn="l">
              <a:lnSpc>
                <a:spcPct val="133000"/>
              </a:lnSpc>
              <a:buSzPct val="100000"/>
              <a:buChar char="•"/>
              <a:defRPr/>
            </a:pPr>
            <a:r>
              <a:rPr lang="en-US" sz="1150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</a:rPr>
              <a:t>Gestión y reporte del control interno</a:t>
            </a:r>
            <a:endParaRPr lang="en-US" sz="1150"/>
          </a:p>
          <a:p>
            <a:pPr marL="342900" indent="-342900" algn="l">
              <a:lnSpc>
                <a:spcPct val="133000"/>
              </a:lnSpc>
              <a:buSzPct val="100000"/>
              <a:buChar char="•"/>
              <a:defRPr/>
            </a:pPr>
            <a:r>
              <a:rPr lang="en-US" sz="1150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</a:rPr>
              <a:t>Evaluación continua del cumplimiento regulatorio</a:t>
            </a:r>
            <a:endParaRPr lang="en-US" sz="1150"/>
          </a:p>
        </p:txBody>
      </p:sp>
      <p:sp>
        <p:nvSpPr>
          <p:cNvPr id="775487570" name="Shape 2"/>
          <p:cNvSpPr/>
          <p:nvPr/>
        </p:nvSpPr>
        <p:spPr bwMode="auto">
          <a:xfrm flipH="0" flipV="0">
            <a:off x="8011354" y="4862363"/>
            <a:ext cx="1080590" cy="281135"/>
          </a:xfrm>
          <a:prstGeom prst="roundRect">
            <a:avLst>
              <a:gd name="adj" fmla="val 6386"/>
            </a:avLst>
          </a:prstGeom>
          <a:solidFill>
            <a:srgbClr val="4C0107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8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13387703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2134069492" name="Shape 0"/>
          <p:cNvSpPr/>
          <p:nvPr/>
        </p:nvSpPr>
        <p:spPr bwMode="auto">
          <a:xfrm>
            <a:off x="400869" y="374228"/>
            <a:ext cx="554906" cy="197941"/>
          </a:xfrm>
          <a:prstGeom prst="roundRect">
            <a:avLst>
              <a:gd name="adj" fmla="val 6944"/>
            </a:avLst>
          </a:prstGeom>
          <a:solidFill>
            <a:srgbClr val="4C0107"/>
          </a:solidFill>
          <a:ln/>
        </p:spPr>
      </p:sp>
      <p:sp>
        <p:nvSpPr>
          <p:cNvPr id="1922146032" name="Text 1"/>
          <p:cNvSpPr/>
          <p:nvPr/>
        </p:nvSpPr>
        <p:spPr bwMode="auto">
          <a:xfrm>
            <a:off x="469553" y="408533"/>
            <a:ext cx="874737" cy="129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  <a:defRPr/>
            </a:pPr>
            <a:r>
              <a:rPr lang="en-US" sz="700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</a:rPr>
              <a:t>ISO 27001</a:t>
            </a:r>
            <a:endParaRPr lang="en-US" sz="700"/>
          </a:p>
        </p:txBody>
      </p:sp>
      <p:sp>
        <p:nvSpPr>
          <p:cNvPr id="529789736" name="Text 2"/>
          <p:cNvSpPr/>
          <p:nvPr/>
        </p:nvSpPr>
        <p:spPr bwMode="auto">
          <a:xfrm>
            <a:off x="400869" y="607219"/>
            <a:ext cx="4913263" cy="673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2100">
                <a:solidFill>
                  <a:srgbClr val="FFFFFF"/>
                </a:solidFill>
                <a:latin typeface="Kanit"/>
                <a:ea typeface="Kanit"/>
                <a:cs typeface="Kanit"/>
              </a:rPr>
              <a:t>ISO 27001: Principios Fundamentales del SGSI</a:t>
            </a:r>
            <a:endParaRPr lang="en-US" sz="2100"/>
          </a:p>
        </p:txBody>
      </p:sp>
      <p:sp>
        <p:nvSpPr>
          <p:cNvPr id="1778218289" name="Shape 3"/>
          <p:cNvSpPr/>
          <p:nvPr/>
        </p:nvSpPr>
        <p:spPr bwMode="auto">
          <a:xfrm>
            <a:off x="400869" y="1412453"/>
            <a:ext cx="4913263" cy="773460"/>
          </a:xfrm>
          <a:prstGeom prst="roundRect">
            <a:avLst>
              <a:gd name="adj" fmla="val 2221"/>
            </a:avLst>
          </a:prstGeom>
          <a:solidFill>
            <a:srgbClr val="2F2B54"/>
          </a:solidFill>
          <a:ln/>
        </p:spPr>
      </p:sp>
      <p:sp>
        <p:nvSpPr>
          <p:cNvPr id="2028422922" name="Text 4"/>
          <p:cNvSpPr/>
          <p:nvPr/>
        </p:nvSpPr>
        <p:spPr bwMode="auto">
          <a:xfrm>
            <a:off x="515392" y="1526977"/>
            <a:ext cx="2048396" cy="168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050">
                <a:solidFill>
                  <a:srgbClr val="D9E1FF"/>
                </a:solidFill>
                <a:latin typeface="Kanit"/>
                <a:ea typeface="Kanit"/>
                <a:cs typeface="Kanit"/>
              </a:rPr>
              <a:t>Satisfacción de Partes Interesadas</a:t>
            </a:r>
            <a:endParaRPr lang="en-US" sz="1050"/>
          </a:p>
        </p:txBody>
      </p:sp>
      <p:sp>
        <p:nvSpPr>
          <p:cNvPr id="170128403" name="Text 5"/>
          <p:cNvSpPr/>
          <p:nvPr/>
        </p:nvSpPr>
        <p:spPr bwMode="auto">
          <a:xfrm>
            <a:off x="515392" y="1747986"/>
            <a:ext cx="4684216" cy="3234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  <a:defRPr/>
            </a:pPr>
            <a:r>
              <a:rPr lang="en-US" sz="900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</a:rPr>
              <a:t>Los controles protegen los intereses económicos, legales y éticos de clientes, empleados y sociedad.</a:t>
            </a:r>
            <a:endParaRPr lang="en-US" sz="900"/>
          </a:p>
        </p:txBody>
      </p:sp>
      <p:sp>
        <p:nvSpPr>
          <p:cNvPr id="2032883434" name="Shape 6"/>
          <p:cNvSpPr/>
          <p:nvPr/>
        </p:nvSpPr>
        <p:spPr bwMode="auto">
          <a:xfrm>
            <a:off x="400869" y="2273573"/>
            <a:ext cx="4913263" cy="773460"/>
          </a:xfrm>
          <a:prstGeom prst="roundRect">
            <a:avLst>
              <a:gd name="adj" fmla="val 2221"/>
            </a:avLst>
          </a:prstGeom>
          <a:solidFill>
            <a:srgbClr val="2F2B54"/>
          </a:solidFill>
          <a:ln/>
        </p:spPr>
      </p:sp>
      <p:sp>
        <p:nvSpPr>
          <p:cNvPr id="1050403753" name="Text 7"/>
          <p:cNvSpPr/>
          <p:nvPr/>
        </p:nvSpPr>
        <p:spPr bwMode="auto">
          <a:xfrm>
            <a:off x="515392" y="2388096"/>
            <a:ext cx="1347564" cy="168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050">
                <a:solidFill>
                  <a:srgbClr val="D9E1FF"/>
                </a:solidFill>
                <a:latin typeface="Kanit"/>
                <a:ea typeface="Kanit"/>
                <a:cs typeface="Kanit"/>
              </a:rPr>
              <a:t>Liderazgo Activo</a:t>
            </a:r>
            <a:endParaRPr lang="en-US" sz="1050"/>
          </a:p>
        </p:txBody>
      </p:sp>
      <p:sp>
        <p:nvSpPr>
          <p:cNvPr id="907847008" name="Text 8"/>
          <p:cNvSpPr/>
          <p:nvPr/>
        </p:nvSpPr>
        <p:spPr bwMode="auto">
          <a:xfrm>
            <a:off x="515392" y="2609106"/>
            <a:ext cx="4684216" cy="3234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  <a:defRPr/>
            </a:pPr>
            <a:r>
              <a:rPr lang="en-US" sz="900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</a:rPr>
              <a:t>El liderazgo debe ser una guía activa, no una mera jefatura formal. Debe implicarse en todos los niveles.</a:t>
            </a:r>
            <a:endParaRPr lang="en-US" sz="900"/>
          </a:p>
        </p:txBody>
      </p:sp>
      <p:sp>
        <p:nvSpPr>
          <p:cNvPr id="1722692774" name="Shape 9"/>
          <p:cNvSpPr/>
          <p:nvPr/>
        </p:nvSpPr>
        <p:spPr bwMode="auto">
          <a:xfrm>
            <a:off x="400869" y="3134692"/>
            <a:ext cx="4913263" cy="773460"/>
          </a:xfrm>
          <a:prstGeom prst="roundRect">
            <a:avLst>
              <a:gd name="adj" fmla="val 2221"/>
            </a:avLst>
          </a:prstGeom>
          <a:solidFill>
            <a:srgbClr val="2F2B54"/>
          </a:solidFill>
          <a:ln/>
        </p:spPr>
      </p:sp>
      <p:sp>
        <p:nvSpPr>
          <p:cNvPr id="991079716" name="Text 10"/>
          <p:cNvSpPr/>
          <p:nvPr/>
        </p:nvSpPr>
        <p:spPr bwMode="auto">
          <a:xfrm>
            <a:off x="515392" y="3249216"/>
            <a:ext cx="1867644" cy="168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050">
                <a:solidFill>
                  <a:srgbClr val="D9E1FF"/>
                </a:solidFill>
                <a:latin typeface="Kanit"/>
                <a:ea typeface="Kanit"/>
                <a:cs typeface="Kanit"/>
              </a:rPr>
              <a:t>Decisiones Basadas en Riesgos</a:t>
            </a:r>
            <a:endParaRPr lang="en-US" sz="1050"/>
          </a:p>
        </p:txBody>
      </p:sp>
      <p:sp>
        <p:nvSpPr>
          <p:cNvPr id="1610041683" name="Text 11"/>
          <p:cNvSpPr/>
          <p:nvPr/>
        </p:nvSpPr>
        <p:spPr bwMode="auto">
          <a:xfrm>
            <a:off x="515392" y="3470225"/>
            <a:ext cx="4684216" cy="3234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  <a:defRPr/>
            </a:pPr>
            <a:r>
              <a:rPr lang="en-US" sz="900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</a:rPr>
              <a:t>Las decisiones estratégicas de seguridad deben ser preventivas, analizando vulnerabilidades y amenazas reales.</a:t>
            </a:r>
            <a:endParaRPr lang="en-US" sz="900"/>
          </a:p>
        </p:txBody>
      </p:sp>
      <p:sp>
        <p:nvSpPr>
          <p:cNvPr id="1767440873" name="Shape 12"/>
          <p:cNvSpPr/>
          <p:nvPr/>
        </p:nvSpPr>
        <p:spPr bwMode="auto">
          <a:xfrm>
            <a:off x="400869" y="3995812"/>
            <a:ext cx="4913263" cy="773460"/>
          </a:xfrm>
          <a:prstGeom prst="roundRect">
            <a:avLst>
              <a:gd name="adj" fmla="val 2221"/>
            </a:avLst>
          </a:prstGeom>
          <a:solidFill>
            <a:srgbClr val="2F2B54"/>
          </a:solidFill>
          <a:ln/>
        </p:spPr>
      </p:sp>
      <p:sp>
        <p:nvSpPr>
          <p:cNvPr id="781347885" name="Text 13"/>
          <p:cNvSpPr/>
          <p:nvPr/>
        </p:nvSpPr>
        <p:spPr bwMode="auto">
          <a:xfrm>
            <a:off x="515392" y="4110335"/>
            <a:ext cx="1444600" cy="168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050">
                <a:solidFill>
                  <a:srgbClr val="D9E1FF"/>
                </a:solidFill>
                <a:latin typeface="Kanit"/>
                <a:ea typeface="Kanit"/>
                <a:cs typeface="Kanit"/>
              </a:rPr>
              <a:t>Mejora Continua (PDCA)</a:t>
            </a:r>
            <a:endParaRPr lang="en-US" sz="1050"/>
          </a:p>
        </p:txBody>
      </p:sp>
      <p:sp>
        <p:nvSpPr>
          <p:cNvPr id="692850791" name="Text 14"/>
          <p:cNvSpPr/>
          <p:nvPr/>
        </p:nvSpPr>
        <p:spPr bwMode="auto">
          <a:xfrm>
            <a:off x="515392" y="4331345"/>
            <a:ext cx="4684216" cy="3234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  <a:defRPr/>
            </a:pPr>
            <a:r>
              <a:rPr lang="en-US" sz="900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</a:rPr>
              <a:t>Un SGSI estático es un hallazgo negativo. La mejora continua debe estar evidenciada año tras año.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9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0659384" name="Shape 0"/>
          <p:cNvSpPr/>
          <p:nvPr/>
        </p:nvSpPr>
        <p:spPr bwMode="auto">
          <a:xfrm>
            <a:off x="1535757" y="310082"/>
            <a:ext cx="452661" cy="153143"/>
          </a:xfrm>
          <a:prstGeom prst="roundRect">
            <a:avLst>
              <a:gd name="adj" fmla="val 7327"/>
            </a:avLst>
          </a:prstGeom>
          <a:solidFill>
            <a:srgbClr val="4C0107"/>
          </a:solidFill>
          <a:ln/>
        </p:spPr>
      </p:sp>
      <p:sp>
        <p:nvSpPr>
          <p:cNvPr id="396715805" name="Text 1"/>
          <p:cNvSpPr/>
          <p:nvPr/>
        </p:nvSpPr>
        <p:spPr bwMode="auto">
          <a:xfrm>
            <a:off x="1591791" y="338063"/>
            <a:ext cx="797793" cy="97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  <a:defRPr/>
            </a:pPr>
            <a:r>
              <a:rPr lang="en-US" sz="550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</a:rPr>
              <a:t>ISO 27001</a:t>
            </a:r>
            <a:endParaRPr lang="en-US" sz="550"/>
          </a:p>
        </p:txBody>
      </p:sp>
      <p:sp>
        <p:nvSpPr>
          <p:cNvPr id="1134362137" name="Text 2"/>
          <p:cNvSpPr/>
          <p:nvPr/>
        </p:nvSpPr>
        <p:spPr bwMode="auto">
          <a:xfrm>
            <a:off x="1535757" y="486594"/>
            <a:ext cx="4781104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700">
                <a:solidFill>
                  <a:srgbClr val="FFFFFF"/>
                </a:solidFill>
                <a:latin typeface="Kanit"/>
                <a:ea typeface="Kanit"/>
                <a:cs typeface="Kanit"/>
              </a:rPr>
              <a:t>Componentes Clave del SGSI para el Auditor</a:t>
            </a:r>
            <a:endParaRPr lang="en-US" sz="1700"/>
          </a:p>
        </p:txBody>
      </p:sp>
      <p:pic>
        <p:nvPicPr>
          <p:cNvPr id="1948091740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535757" y="914995"/>
            <a:ext cx="2922166" cy="2922166"/>
          </a:xfrm>
          <a:prstGeom prst="rect">
            <a:avLst/>
          </a:prstGeom>
        </p:spPr>
      </p:pic>
      <p:pic>
        <p:nvPicPr>
          <p:cNvPr id="1279194465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1535757" y="914995"/>
            <a:ext cx="2922166" cy="2922166"/>
          </a:xfrm>
          <a:prstGeom prst="rect">
            <a:avLst/>
          </a:prstGeom>
        </p:spPr>
      </p:pic>
      <p:sp>
        <p:nvSpPr>
          <p:cNvPr id="806023614" name="Text 3"/>
          <p:cNvSpPr/>
          <p:nvPr/>
        </p:nvSpPr>
        <p:spPr bwMode="auto">
          <a:xfrm>
            <a:off x="4690839" y="2254448"/>
            <a:ext cx="2922166" cy="2431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  <a:defRPr/>
            </a:pPr>
            <a:r>
              <a:rPr lang="en-US" sz="700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</a:rPr>
              <a:t>El auditor debe verificar la correcta aplicación del </a:t>
            </a:r>
            <a:r>
              <a:rPr lang="en-US" sz="700" b="1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</a:rPr>
              <a:t>Ciclo de Deming (PDCA)</a:t>
            </a:r>
            <a:r>
              <a:rPr lang="en-US" sz="700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</a:rPr>
              <a:t> y los siguientes elementos críticos:</a:t>
            </a:r>
            <a:endParaRPr lang="en-US" sz="700"/>
          </a:p>
        </p:txBody>
      </p:sp>
      <p:sp>
        <p:nvSpPr>
          <p:cNvPr id="1838504105" name="Shape 4"/>
          <p:cNvSpPr/>
          <p:nvPr/>
        </p:nvSpPr>
        <p:spPr bwMode="auto">
          <a:xfrm>
            <a:off x="1535757" y="3968576"/>
            <a:ext cx="1985217" cy="864840"/>
          </a:xfrm>
          <a:prstGeom prst="roundRect">
            <a:avLst>
              <a:gd name="adj" fmla="val 5287"/>
            </a:avLst>
          </a:prstGeom>
          <a:solidFill>
            <a:srgbClr val="100C35"/>
          </a:solidFill>
          <a:ln w="9525">
            <a:solidFill>
              <a:srgbClr val="48446D"/>
            </a:solidFill>
            <a:prstDash val="solid"/>
          </a:ln>
        </p:spPr>
      </p:sp>
      <p:pic>
        <p:nvPicPr>
          <p:cNvPr id="1948098956" name="Image 2" descr="preencoded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1526232" y="3968576"/>
            <a:ext cx="38100" cy="864840"/>
          </a:xfrm>
          <a:prstGeom prst="rect">
            <a:avLst/>
          </a:prstGeom>
        </p:spPr>
      </p:pic>
      <p:sp>
        <p:nvSpPr>
          <p:cNvPr id="1707187713" name="Text 5"/>
          <p:cNvSpPr/>
          <p:nvPr/>
        </p:nvSpPr>
        <p:spPr bwMode="auto">
          <a:xfrm>
            <a:off x="1667321" y="4071565"/>
            <a:ext cx="1384474" cy="137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850">
                <a:solidFill>
                  <a:srgbClr val="D9E1FF"/>
                </a:solidFill>
                <a:latin typeface="Kanit"/>
                <a:ea typeface="Kanit"/>
                <a:cs typeface="Kanit"/>
              </a:rPr>
              <a:t>Contexto de la Organización</a:t>
            </a:r>
            <a:endParaRPr lang="en-US" sz="850"/>
          </a:p>
        </p:txBody>
      </p:sp>
      <p:sp>
        <p:nvSpPr>
          <p:cNvPr id="74600073" name="Text 6"/>
          <p:cNvSpPr/>
          <p:nvPr/>
        </p:nvSpPr>
        <p:spPr bwMode="auto">
          <a:xfrm>
            <a:off x="1667321" y="4244057"/>
            <a:ext cx="1750665" cy="364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  <a:defRPr/>
            </a:pPr>
            <a:r>
              <a:rPr lang="en-US" sz="700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</a:rPr>
              <a:t>Factores externos (ciberataques, regulaciones) e internos (cultura, competencias, infraestructura).</a:t>
            </a:r>
            <a:endParaRPr lang="en-US" sz="700"/>
          </a:p>
        </p:txBody>
      </p:sp>
      <p:sp>
        <p:nvSpPr>
          <p:cNvPr id="23056062" name="Shape 7"/>
          <p:cNvSpPr/>
          <p:nvPr/>
        </p:nvSpPr>
        <p:spPr bwMode="auto">
          <a:xfrm>
            <a:off x="3579391" y="3968576"/>
            <a:ext cx="1985217" cy="864840"/>
          </a:xfrm>
          <a:prstGeom prst="roundRect">
            <a:avLst>
              <a:gd name="adj" fmla="val 5287"/>
            </a:avLst>
          </a:prstGeom>
          <a:solidFill>
            <a:srgbClr val="100C35"/>
          </a:solidFill>
          <a:ln w="9525">
            <a:solidFill>
              <a:srgbClr val="48446D"/>
            </a:solidFill>
            <a:prstDash val="solid"/>
          </a:ln>
        </p:spPr>
      </p:sp>
      <p:pic>
        <p:nvPicPr>
          <p:cNvPr id="1110263700" name="Image 3" descr="preencoded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3569866" y="3968576"/>
            <a:ext cx="38100" cy="864840"/>
          </a:xfrm>
          <a:prstGeom prst="rect">
            <a:avLst/>
          </a:prstGeom>
        </p:spPr>
      </p:pic>
      <p:sp>
        <p:nvSpPr>
          <p:cNvPr id="1685287745" name="Text 8"/>
          <p:cNvSpPr/>
          <p:nvPr/>
        </p:nvSpPr>
        <p:spPr bwMode="auto">
          <a:xfrm>
            <a:off x="3710955" y="4071565"/>
            <a:ext cx="1100063" cy="137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850">
                <a:solidFill>
                  <a:srgbClr val="D9E1FF"/>
                </a:solidFill>
                <a:latin typeface="Kanit"/>
                <a:ea typeface="Kanit"/>
                <a:cs typeface="Kanit"/>
              </a:rPr>
              <a:t>Alcance del SGSI</a:t>
            </a:r>
            <a:endParaRPr lang="en-US" sz="850"/>
          </a:p>
        </p:txBody>
      </p:sp>
      <p:sp>
        <p:nvSpPr>
          <p:cNvPr id="950122371" name="Text 9"/>
          <p:cNvSpPr/>
          <p:nvPr/>
        </p:nvSpPr>
        <p:spPr bwMode="auto">
          <a:xfrm>
            <a:off x="3710955" y="4244057"/>
            <a:ext cx="1750665" cy="486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  <a:defRPr/>
            </a:pPr>
            <a:r>
              <a:rPr lang="en-US" sz="700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</a:rPr>
              <a:t>Verificar qué está incluido y excluido. Las exclusiones injustificadas de procesos críticos son no conformidades.</a:t>
            </a:r>
            <a:endParaRPr lang="en-US" sz="700"/>
          </a:p>
        </p:txBody>
      </p:sp>
      <p:sp>
        <p:nvSpPr>
          <p:cNvPr id="1184608446" name="Shape 10"/>
          <p:cNvSpPr/>
          <p:nvPr/>
        </p:nvSpPr>
        <p:spPr bwMode="auto">
          <a:xfrm>
            <a:off x="5623024" y="3968576"/>
            <a:ext cx="1985217" cy="864840"/>
          </a:xfrm>
          <a:prstGeom prst="roundRect">
            <a:avLst>
              <a:gd name="adj" fmla="val 5287"/>
            </a:avLst>
          </a:prstGeom>
          <a:solidFill>
            <a:srgbClr val="100C35"/>
          </a:solidFill>
          <a:ln w="9525">
            <a:solidFill>
              <a:srgbClr val="48446D"/>
            </a:solidFill>
            <a:prstDash val="solid"/>
          </a:ln>
        </p:spPr>
      </p:sp>
      <p:pic>
        <p:nvPicPr>
          <p:cNvPr id="2032505377" name="Image 4" descr="preencoded.png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5613499" y="3968576"/>
            <a:ext cx="38100" cy="864840"/>
          </a:xfrm>
          <a:prstGeom prst="rect">
            <a:avLst/>
          </a:prstGeom>
        </p:spPr>
      </p:pic>
      <p:sp>
        <p:nvSpPr>
          <p:cNvPr id="2095852337" name="Text 11"/>
          <p:cNvSpPr/>
          <p:nvPr/>
        </p:nvSpPr>
        <p:spPr bwMode="auto">
          <a:xfrm>
            <a:off x="5754588" y="4071565"/>
            <a:ext cx="1100063" cy="137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850">
                <a:solidFill>
                  <a:srgbClr val="D9E1FF"/>
                </a:solidFill>
                <a:latin typeface="Kanit"/>
                <a:ea typeface="Kanit"/>
                <a:cs typeface="Kanit"/>
              </a:rPr>
              <a:t>Política de Seguridad</a:t>
            </a:r>
            <a:endParaRPr lang="en-US" sz="850"/>
          </a:p>
        </p:txBody>
      </p:sp>
      <p:sp>
        <p:nvSpPr>
          <p:cNvPr id="127120769" name="Text 12"/>
          <p:cNvSpPr/>
          <p:nvPr/>
        </p:nvSpPr>
        <p:spPr bwMode="auto">
          <a:xfrm>
            <a:off x="5754588" y="4244057"/>
            <a:ext cx="1750665" cy="486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  <a:defRPr/>
            </a:pPr>
            <a:r>
              <a:rPr lang="en-US" sz="700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</a:rPr>
              <a:t>Debe ser específica, comprometerse con el cumplimiento legal y estar comunicada y entendida en toda la organización.</a:t>
            </a:r>
            <a:endParaRPr lang="en-US" sz="700"/>
          </a:p>
        </p:txBody>
      </p:sp>
      <p:sp>
        <p:nvSpPr>
          <p:cNvPr id="301050959" name="Shape 2"/>
          <p:cNvSpPr/>
          <p:nvPr/>
        </p:nvSpPr>
        <p:spPr bwMode="auto">
          <a:xfrm flipH="0" flipV="0">
            <a:off x="8011354" y="4862363"/>
            <a:ext cx="1080590" cy="281135"/>
          </a:xfrm>
          <a:prstGeom prst="roundRect">
            <a:avLst>
              <a:gd name="adj" fmla="val 6386"/>
            </a:avLst>
          </a:prstGeom>
          <a:solidFill>
            <a:srgbClr val="4C0107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0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9168708" name="Shape 0"/>
          <p:cNvSpPr/>
          <p:nvPr/>
        </p:nvSpPr>
        <p:spPr bwMode="auto">
          <a:xfrm>
            <a:off x="523577" y="875705"/>
            <a:ext cx="976313" cy="281136"/>
          </a:xfrm>
          <a:prstGeom prst="roundRect">
            <a:avLst>
              <a:gd name="adj" fmla="val 6386"/>
            </a:avLst>
          </a:prstGeom>
          <a:solidFill>
            <a:srgbClr val="4C0107"/>
          </a:solidFill>
          <a:ln/>
        </p:spPr>
      </p:sp>
      <p:sp>
        <p:nvSpPr>
          <p:cNvPr id="757455446" name="Text 1"/>
          <p:cNvSpPr/>
          <p:nvPr/>
        </p:nvSpPr>
        <p:spPr bwMode="auto">
          <a:xfrm>
            <a:off x="613320" y="920576"/>
            <a:ext cx="1254026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900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</a:rPr>
              <a:t>CONCLUSIÓN</a:t>
            </a:r>
            <a:endParaRPr lang="en-US" sz="900"/>
          </a:p>
        </p:txBody>
      </p:sp>
      <p:sp>
        <p:nvSpPr>
          <p:cNvPr id="1524665435" name="Text 2"/>
          <p:cNvSpPr/>
          <p:nvPr/>
        </p:nvSpPr>
        <p:spPr bwMode="auto">
          <a:xfrm>
            <a:off x="523577" y="1216670"/>
            <a:ext cx="8218736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2750">
                <a:solidFill>
                  <a:srgbClr val="FFFFFF"/>
                </a:solidFill>
                <a:latin typeface="Kanit"/>
                <a:ea typeface="Kanit"/>
                <a:cs typeface="Kanit"/>
              </a:rPr>
              <a:t>Integración: Auditoría Holística COBIT + ISO 27001</a:t>
            </a:r>
            <a:endParaRPr lang="en-US" sz="2750"/>
          </a:p>
        </p:txBody>
      </p:sp>
      <p:sp>
        <p:nvSpPr>
          <p:cNvPr id="2077439494" name="Text 3"/>
          <p:cNvSpPr/>
          <p:nvPr/>
        </p:nvSpPr>
        <p:spPr bwMode="auto">
          <a:xfrm>
            <a:off x="523577" y="1881039"/>
            <a:ext cx="8554045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150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</a:rPr>
              <a:t>La auditoría moderna eleva la discusión desde la </a:t>
            </a:r>
            <a:r>
              <a:rPr lang="en-US" sz="1150" b="1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</a:rPr>
              <a:t>falla técnica</a:t>
            </a:r>
            <a:r>
              <a:rPr lang="en-US" sz="1150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</a:rPr>
              <a:t> hasta el </a:t>
            </a:r>
            <a:r>
              <a:rPr lang="en-US" sz="1150" b="1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</a:rPr>
              <a:t>riesgo de negocio</a:t>
            </a:r>
            <a:r>
              <a:rPr lang="en-US" sz="1150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</a:rPr>
              <a:t>.</a:t>
            </a:r>
            <a:endParaRPr lang="en-US" sz="1150"/>
          </a:p>
        </p:txBody>
      </p:sp>
      <p:sp>
        <p:nvSpPr>
          <p:cNvPr id="509165833" name="Shape 4"/>
          <p:cNvSpPr/>
          <p:nvPr/>
        </p:nvSpPr>
        <p:spPr bwMode="auto">
          <a:xfrm>
            <a:off x="523577" y="2288679"/>
            <a:ext cx="336575" cy="336575"/>
          </a:xfrm>
          <a:prstGeom prst="roundRect">
            <a:avLst>
              <a:gd name="adj" fmla="val 6668"/>
            </a:avLst>
          </a:prstGeom>
          <a:solidFill>
            <a:srgbClr val="2F2B54"/>
          </a:solidFill>
          <a:ln/>
        </p:spPr>
      </p:sp>
      <p:sp>
        <p:nvSpPr>
          <p:cNvPr id="212047629" name="Text 5"/>
          <p:cNvSpPr/>
          <p:nvPr/>
        </p:nvSpPr>
        <p:spPr bwMode="auto">
          <a:xfrm>
            <a:off x="586234" y="2324919"/>
            <a:ext cx="211187" cy="264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  <a:defRPr/>
            </a:pPr>
            <a:r>
              <a:rPr lang="en-US" sz="1650">
                <a:solidFill>
                  <a:srgbClr val="D9E1FF"/>
                </a:solidFill>
                <a:latin typeface="Kanit"/>
                <a:ea typeface="Kanit"/>
                <a:cs typeface="Kanit"/>
              </a:rPr>
              <a:t>1</a:t>
            </a:r>
            <a:endParaRPr lang="en-US" sz="1650"/>
          </a:p>
        </p:txBody>
      </p:sp>
      <p:sp>
        <p:nvSpPr>
          <p:cNvPr id="1423129650" name="Text 6"/>
          <p:cNvSpPr/>
          <p:nvPr/>
        </p:nvSpPr>
        <p:spPr bwMode="auto">
          <a:xfrm>
            <a:off x="1009724" y="2340099"/>
            <a:ext cx="2175718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350">
                <a:solidFill>
                  <a:srgbClr val="D9E1FF"/>
                </a:solidFill>
                <a:latin typeface="Kanit"/>
                <a:ea typeface="Kanit"/>
                <a:cs typeface="Kanit"/>
              </a:rPr>
              <a:t>Auditoría Basada en Riesgo</a:t>
            </a:r>
            <a:endParaRPr lang="en-US" sz="1350"/>
          </a:p>
        </p:txBody>
      </p:sp>
      <p:sp>
        <p:nvSpPr>
          <p:cNvPr id="974923361" name="Text 7"/>
          <p:cNvSpPr/>
          <p:nvPr/>
        </p:nvSpPr>
        <p:spPr bwMode="auto">
          <a:xfrm>
            <a:off x="1009724" y="2649810"/>
            <a:ext cx="3468737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150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</a:rPr>
              <a:t>Solicitar la Evaluación de Riesgos y la Declaración de Aplicabilidad (SoA).</a:t>
            </a:r>
            <a:endParaRPr lang="en-US" sz="1150"/>
          </a:p>
        </p:txBody>
      </p:sp>
      <p:sp>
        <p:nvSpPr>
          <p:cNvPr id="428644831" name="Shape 8"/>
          <p:cNvSpPr/>
          <p:nvPr/>
        </p:nvSpPr>
        <p:spPr bwMode="auto">
          <a:xfrm>
            <a:off x="4665464" y="2288679"/>
            <a:ext cx="336575" cy="336575"/>
          </a:xfrm>
          <a:prstGeom prst="roundRect">
            <a:avLst>
              <a:gd name="adj" fmla="val 6668"/>
            </a:avLst>
          </a:prstGeom>
          <a:solidFill>
            <a:srgbClr val="2F2B54"/>
          </a:solidFill>
          <a:ln/>
        </p:spPr>
      </p:sp>
      <p:sp>
        <p:nvSpPr>
          <p:cNvPr id="1574512748" name="Text 9"/>
          <p:cNvSpPr/>
          <p:nvPr/>
        </p:nvSpPr>
        <p:spPr bwMode="auto">
          <a:xfrm>
            <a:off x="4728121" y="2324919"/>
            <a:ext cx="211187" cy="264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  <a:defRPr/>
            </a:pPr>
            <a:r>
              <a:rPr lang="en-US" sz="1650">
                <a:solidFill>
                  <a:srgbClr val="D9E1FF"/>
                </a:solidFill>
                <a:latin typeface="Kanit"/>
                <a:ea typeface="Kanit"/>
                <a:cs typeface="Kanit"/>
              </a:rPr>
              <a:t>2</a:t>
            </a:r>
            <a:endParaRPr lang="en-US" sz="1650"/>
          </a:p>
        </p:txBody>
      </p:sp>
      <p:sp>
        <p:nvSpPr>
          <p:cNvPr id="343907652" name="Text 10"/>
          <p:cNvSpPr/>
          <p:nvPr/>
        </p:nvSpPr>
        <p:spPr bwMode="auto">
          <a:xfrm>
            <a:off x="5151611" y="2340099"/>
            <a:ext cx="1955304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350">
                <a:solidFill>
                  <a:srgbClr val="D9E1FF"/>
                </a:solidFill>
                <a:latin typeface="Kanit"/>
                <a:ea typeface="Kanit"/>
                <a:cs typeface="Kanit"/>
              </a:rPr>
              <a:t>Trazabilidad Documental</a:t>
            </a:r>
            <a:endParaRPr lang="en-US" sz="1350"/>
          </a:p>
        </p:txBody>
      </p:sp>
      <p:sp>
        <p:nvSpPr>
          <p:cNvPr id="1076335938" name="Text 11"/>
          <p:cNvSpPr/>
          <p:nvPr/>
        </p:nvSpPr>
        <p:spPr bwMode="auto">
          <a:xfrm>
            <a:off x="5151611" y="2649810"/>
            <a:ext cx="3468812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150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</a:rPr>
              <a:t>Rastrear requisitos desde la evaluación inicial hasta el registro técnico que los evidencia.</a:t>
            </a:r>
            <a:endParaRPr lang="en-US" sz="1150"/>
          </a:p>
        </p:txBody>
      </p:sp>
      <p:sp>
        <p:nvSpPr>
          <p:cNvPr id="1506482034" name="Shape 12"/>
          <p:cNvSpPr/>
          <p:nvPr/>
        </p:nvSpPr>
        <p:spPr bwMode="auto">
          <a:xfrm>
            <a:off x="523577" y="3427809"/>
            <a:ext cx="336575" cy="336575"/>
          </a:xfrm>
          <a:prstGeom prst="roundRect">
            <a:avLst>
              <a:gd name="adj" fmla="val 6668"/>
            </a:avLst>
          </a:prstGeom>
          <a:solidFill>
            <a:srgbClr val="2F2B54"/>
          </a:solidFill>
          <a:ln/>
        </p:spPr>
      </p:sp>
      <p:sp>
        <p:nvSpPr>
          <p:cNvPr id="1758118224" name="Text 13"/>
          <p:cNvSpPr/>
          <p:nvPr/>
        </p:nvSpPr>
        <p:spPr bwMode="auto">
          <a:xfrm>
            <a:off x="586234" y="3464049"/>
            <a:ext cx="211187" cy="264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  <a:defRPr/>
            </a:pPr>
            <a:r>
              <a:rPr lang="en-US" sz="1650">
                <a:solidFill>
                  <a:srgbClr val="D9E1FF"/>
                </a:solidFill>
                <a:latin typeface="Kanit"/>
                <a:ea typeface="Kanit"/>
                <a:cs typeface="Kanit"/>
              </a:rPr>
              <a:t>3</a:t>
            </a:r>
            <a:endParaRPr lang="en-US" sz="1650"/>
          </a:p>
        </p:txBody>
      </p:sp>
      <p:sp>
        <p:nvSpPr>
          <p:cNvPr id="1499122538" name="Text 14"/>
          <p:cNvSpPr/>
          <p:nvPr/>
        </p:nvSpPr>
        <p:spPr bwMode="auto">
          <a:xfrm>
            <a:off x="1009724" y="3479229"/>
            <a:ext cx="1798067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350">
                <a:solidFill>
                  <a:srgbClr val="D9E1FF"/>
                </a:solidFill>
                <a:latin typeface="Kanit"/>
                <a:ea typeface="Kanit"/>
                <a:cs typeface="Kanit"/>
              </a:rPr>
              <a:t>Cultura y Competencia</a:t>
            </a:r>
            <a:endParaRPr lang="en-US" sz="1350"/>
          </a:p>
        </p:txBody>
      </p:sp>
      <p:sp>
        <p:nvSpPr>
          <p:cNvPr id="152823840" name="Text 15"/>
          <p:cNvSpPr/>
          <p:nvPr/>
        </p:nvSpPr>
        <p:spPr bwMode="auto">
          <a:xfrm>
            <a:off x="1009724" y="3788941"/>
            <a:ext cx="3468737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150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</a:rPr>
              <a:t>Evaluar planes de concienciación frente a ingeniería social y gestión de contraseñas.</a:t>
            </a:r>
            <a:endParaRPr lang="en-US" sz="1150"/>
          </a:p>
        </p:txBody>
      </p:sp>
      <p:sp>
        <p:nvSpPr>
          <p:cNvPr id="2140574409" name="Shape 16"/>
          <p:cNvSpPr/>
          <p:nvPr/>
        </p:nvSpPr>
        <p:spPr bwMode="auto">
          <a:xfrm>
            <a:off x="4665464" y="3427809"/>
            <a:ext cx="336575" cy="336575"/>
          </a:xfrm>
          <a:prstGeom prst="roundRect">
            <a:avLst>
              <a:gd name="adj" fmla="val 6668"/>
            </a:avLst>
          </a:prstGeom>
          <a:solidFill>
            <a:srgbClr val="2F2B54"/>
          </a:solidFill>
          <a:ln/>
        </p:spPr>
      </p:sp>
      <p:sp>
        <p:nvSpPr>
          <p:cNvPr id="1481695016" name="Text 17"/>
          <p:cNvSpPr/>
          <p:nvPr/>
        </p:nvSpPr>
        <p:spPr bwMode="auto">
          <a:xfrm>
            <a:off x="4728121" y="3464049"/>
            <a:ext cx="211187" cy="264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  <a:defRPr/>
            </a:pPr>
            <a:r>
              <a:rPr lang="en-US" sz="1650">
                <a:solidFill>
                  <a:srgbClr val="D9E1FF"/>
                </a:solidFill>
                <a:latin typeface="Kanit"/>
                <a:ea typeface="Kanit"/>
                <a:cs typeface="Kanit"/>
              </a:rPr>
              <a:t>4</a:t>
            </a:r>
            <a:endParaRPr lang="en-US" sz="1650"/>
          </a:p>
        </p:txBody>
      </p:sp>
      <p:sp>
        <p:nvSpPr>
          <p:cNvPr id="437155695" name="Text 18"/>
          <p:cNvSpPr/>
          <p:nvPr/>
        </p:nvSpPr>
        <p:spPr bwMode="auto">
          <a:xfrm>
            <a:off x="5151611" y="3479229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350">
                <a:solidFill>
                  <a:srgbClr val="D9E1FF"/>
                </a:solidFill>
                <a:latin typeface="Kanit"/>
                <a:ea typeface="Kanit"/>
                <a:cs typeface="Kanit"/>
              </a:rPr>
              <a:t>Liderazgo Directivo</a:t>
            </a:r>
            <a:endParaRPr lang="en-US" sz="1350"/>
          </a:p>
        </p:txBody>
      </p:sp>
      <p:sp>
        <p:nvSpPr>
          <p:cNvPr id="495181375" name="Text 19"/>
          <p:cNvSpPr/>
          <p:nvPr/>
        </p:nvSpPr>
        <p:spPr bwMode="auto">
          <a:xfrm>
            <a:off x="5151611" y="3788941"/>
            <a:ext cx="3468812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150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</a:rPr>
              <a:t>Evidenciar implicación de la Alta Dirección: presupuestos, roles y revisión anual del SGSI.</a:t>
            </a:r>
            <a:endParaRPr lang="en-US" sz="1150"/>
          </a:p>
        </p:txBody>
      </p:sp>
      <p:sp>
        <p:nvSpPr>
          <p:cNvPr id="594810091" name="Shape 2"/>
          <p:cNvSpPr/>
          <p:nvPr/>
        </p:nvSpPr>
        <p:spPr bwMode="auto">
          <a:xfrm flipH="0" flipV="0">
            <a:off x="8011354" y="4862363"/>
            <a:ext cx="1080590" cy="281135"/>
          </a:xfrm>
          <a:prstGeom prst="roundRect">
            <a:avLst>
              <a:gd name="adj" fmla="val 6386"/>
            </a:avLst>
          </a:prstGeom>
          <a:solidFill>
            <a:srgbClr val="4C0107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ONLYOFFICE/9.3.1.8</Application>
  <PresentationFormat>On-screen Show (4:3)</PresentationFormat>
  <Paragraphs>0</Paragraphs>
  <Slides>10</Slides>
  <Notes>10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2</cp:revision>
  <dcterms:created xsi:type="dcterms:W3CDTF">2026-05-22T02:46:11Z</dcterms:created>
  <dcterms:modified xsi:type="dcterms:W3CDTF">2026-05-22T02:49:00Z</dcterms:modified>
</cp:coreProperties>
</file>