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8948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93645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667631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43983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945091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09865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308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845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5105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866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397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576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979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024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360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527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8002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566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72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593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5937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865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0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7507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188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567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5594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3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4493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14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117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8376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905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826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261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7766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34856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373188196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48199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42304781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53763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230143974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04070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63446228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176073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4273620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13719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075583548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448887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6930068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38999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707059143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91039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44487404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52677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1898159438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media1.svg"/><Relationship Id="rId5" Type="http://schemas.openxmlformats.org/officeDocument/2006/relationships/image" Target="../media/image24.png"/><Relationship Id="rId6" Type="http://schemas.openxmlformats.org/officeDocument/2006/relationships/image" Target="../media/media2.svg"/><Relationship Id="rId7" Type="http://schemas.openxmlformats.org/officeDocument/2006/relationships/image" Target="../media/image25.png"/><Relationship Id="rId8" Type="http://schemas.openxmlformats.org/officeDocument/2006/relationships/image" Target="../media/media3.svg"/><Relationship Id="rId9" Type="http://schemas.openxmlformats.org/officeDocument/2006/relationships/image" Target="../media/image26.png"/><Relationship Id="rId10" Type="http://schemas.openxmlformats.org/officeDocument/2006/relationships/image" Target="../media/media4.svg"/><Relationship Id="rId1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0340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925471938" name="Text 0"/>
          <p:cNvSpPr/>
          <p:nvPr/>
        </p:nvSpPr>
        <p:spPr bwMode="auto">
          <a:xfrm>
            <a:off x="3952577" y="1170980"/>
            <a:ext cx="400972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Auditoría de Sistemas</a:t>
            </a:r>
            <a:endParaRPr lang="en-US" sz="2750"/>
          </a:p>
        </p:txBody>
      </p:sp>
      <p:sp>
        <p:nvSpPr>
          <p:cNvPr id="850908156" name="Text 1"/>
          <p:cNvSpPr/>
          <p:nvPr/>
        </p:nvSpPr>
        <p:spPr bwMode="auto">
          <a:xfrm>
            <a:off x="3952577" y="1835348"/>
            <a:ext cx="4667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800">
                <a:solidFill>
                  <a:srgbClr val="F98AC7"/>
                </a:solidFill>
                <a:latin typeface="Lora"/>
                <a:ea typeface="Lora"/>
                <a:cs typeface="Lora"/>
              </a:rPr>
              <a:t>Implementación de COBIT 2019</a:t>
            </a:r>
            <a:endParaRPr lang="en-US" sz="3800"/>
          </a:p>
        </p:txBody>
      </p:sp>
      <p:sp>
        <p:nvSpPr>
          <p:cNvPr id="1640221035" name="Text 2"/>
          <p:cNvSpPr/>
          <p:nvPr/>
        </p:nvSpPr>
        <p:spPr bwMode="auto">
          <a:xfrm>
            <a:off x="3952577" y="3274144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Dominio DSS y Dominio APO — SILAIS Sede Masaya</a:t>
            </a:r>
            <a:endParaRPr lang="en-US" sz="1150"/>
          </a:p>
        </p:txBody>
      </p:sp>
      <p:sp>
        <p:nvSpPr>
          <p:cNvPr id="1787353873" name="Shape 3"/>
          <p:cNvSpPr/>
          <p:nvPr/>
        </p:nvSpPr>
        <p:spPr bwMode="auto">
          <a:xfrm>
            <a:off x="3952577" y="3686547"/>
            <a:ext cx="1227386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1093045600" name="Text 4"/>
          <p:cNvSpPr/>
          <p:nvPr/>
        </p:nvSpPr>
        <p:spPr bwMode="auto">
          <a:xfrm>
            <a:off x="4042321" y="3731419"/>
            <a:ext cx="150509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ACTIVIDAD PRÁCTICA</a:t>
            </a:r>
            <a:endParaRPr lang="en-US" sz="900"/>
          </a:p>
        </p:txBody>
      </p:sp>
      <p:sp>
        <p:nvSpPr>
          <p:cNvPr id="760642033" name="Shape 5"/>
          <p:cNvSpPr/>
          <p:nvPr/>
        </p:nvSpPr>
        <p:spPr bwMode="auto">
          <a:xfrm>
            <a:off x="5254749" y="3681785"/>
            <a:ext cx="761107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98AC7"/>
            </a:solidFill>
            <a:prstDash val="solid"/>
          </a:ln>
        </p:spPr>
      </p:sp>
      <p:sp>
        <p:nvSpPr>
          <p:cNvPr id="1102946779" name="Text 6"/>
          <p:cNvSpPr/>
          <p:nvPr/>
        </p:nvSpPr>
        <p:spPr bwMode="auto">
          <a:xfrm>
            <a:off x="5349255" y="3731419"/>
            <a:ext cx="102929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00">
                <a:solidFill>
                  <a:srgbClr val="F98AC7"/>
                </a:solidFill>
                <a:latin typeface="Source Sans 3"/>
                <a:ea typeface="Source Sans 3"/>
                <a:cs typeface="Source Sans 3"/>
              </a:rPr>
              <a:t>COBIT 2019</a:t>
            </a:r>
            <a:endParaRPr lang="en-US" sz="900"/>
          </a:p>
        </p:txBody>
      </p:sp>
      <p:sp>
        <p:nvSpPr>
          <p:cNvPr id="1528713217" name="Shape 3"/>
          <p:cNvSpPr/>
          <p:nvPr/>
        </p:nvSpPr>
        <p:spPr bwMode="auto">
          <a:xfrm>
            <a:off x="7900760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785963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48027405" name="Text 0"/>
          <p:cNvSpPr/>
          <p:nvPr/>
        </p:nvSpPr>
        <p:spPr bwMode="auto">
          <a:xfrm>
            <a:off x="3952577" y="708720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¿Qué es COBIT 2019?</a:t>
            </a:r>
            <a:endParaRPr lang="en-US" sz="2750"/>
          </a:p>
        </p:txBody>
      </p:sp>
      <p:sp>
        <p:nvSpPr>
          <p:cNvPr id="135510441" name="Text 1"/>
          <p:cNvSpPr/>
          <p:nvPr/>
        </p:nvSpPr>
        <p:spPr bwMode="auto">
          <a:xfrm>
            <a:off x="3952577" y="1373088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COBIT (Control Objectives for Information and Related Technologies) es el marco de referencia global para la gobernanza y gestión de TI. En esta auditoría se aplican dos dominios clave:</a:t>
            </a:r>
            <a:endParaRPr lang="en-US" sz="1150"/>
          </a:p>
        </p:txBody>
      </p:sp>
      <p:sp>
        <p:nvSpPr>
          <p:cNvPr id="1420768147" name="Shape 2"/>
          <p:cNvSpPr/>
          <p:nvPr/>
        </p:nvSpPr>
        <p:spPr bwMode="auto">
          <a:xfrm>
            <a:off x="3952577" y="2259509"/>
            <a:ext cx="4667845" cy="2175272"/>
          </a:xfrm>
          <a:prstGeom prst="roundRect">
            <a:avLst>
              <a:gd name="adj" fmla="val 1032"/>
            </a:avLst>
          </a:prstGeom>
          <a:solidFill>
            <a:srgbClr val="444752"/>
          </a:solidFill>
          <a:ln/>
        </p:spPr>
      </p:sp>
      <p:sp>
        <p:nvSpPr>
          <p:cNvPr id="1799405889" name="Shape 3"/>
          <p:cNvSpPr/>
          <p:nvPr/>
        </p:nvSpPr>
        <p:spPr bwMode="auto">
          <a:xfrm>
            <a:off x="3952577" y="2259509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627417537" name="Text 4"/>
          <p:cNvSpPr/>
          <p:nvPr/>
        </p:nvSpPr>
        <p:spPr bwMode="auto">
          <a:xfrm>
            <a:off x="4102150" y="240908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Dominio DSS</a:t>
            </a:r>
            <a:endParaRPr lang="en-US" sz="1350"/>
          </a:p>
        </p:txBody>
      </p:sp>
      <p:sp>
        <p:nvSpPr>
          <p:cNvPr id="1164963173" name="Text 5"/>
          <p:cNvSpPr/>
          <p:nvPr/>
        </p:nvSpPr>
        <p:spPr bwMode="auto">
          <a:xfrm>
            <a:off x="4102150" y="2718792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Entregar, Dar Servicio y Soporte — operaciones diarias, seguridad y continuidad.</a:t>
            </a:r>
            <a:endParaRPr lang="en-US" sz="1150"/>
          </a:p>
        </p:txBody>
      </p:sp>
      <p:sp>
        <p:nvSpPr>
          <p:cNvPr id="1289197209" name="Shape 6"/>
          <p:cNvSpPr/>
          <p:nvPr/>
        </p:nvSpPr>
        <p:spPr bwMode="auto">
          <a:xfrm>
            <a:off x="3952577" y="3347144"/>
            <a:ext cx="4667845" cy="108763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471744092" name="Shape 7"/>
          <p:cNvSpPr/>
          <p:nvPr/>
        </p:nvSpPr>
        <p:spPr bwMode="auto">
          <a:xfrm>
            <a:off x="3952577" y="3347144"/>
            <a:ext cx="4667845" cy="19050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974250582" name="Text 8"/>
          <p:cNvSpPr/>
          <p:nvPr/>
        </p:nvSpPr>
        <p:spPr bwMode="auto">
          <a:xfrm>
            <a:off x="4102150" y="34967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Dominio APO</a:t>
            </a:r>
            <a:endParaRPr lang="en-US" sz="1350"/>
          </a:p>
        </p:txBody>
      </p:sp>
      <p:sp>
        <p:nvSpPr>
          <p:cNvPr id="1037197834" name="Text 9"/>
          <p:cNvSpPr/>
          <p:nvPr/>
        </p:nvSpPr>
        <p:spPr bwMode="auto">
          <a:xfrm>
            <a:off x="4102150" y="3806428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Alinear, Planificar y Organizar — estrategia, presupuesto y gobernanza de TI.</a:t>
            </a:r>
            <a:endParaRPr lang="en-US" sz="1150"/>
          </a:p>
        </p:txBody>
      </p:sp>
      <p:sp>
        <p:nvSpPr>
          <p:cNvPr id="2012693341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394605" name="Text 0"/>
          <p:cNvSpPr/>
          <p:nvPr/>
        </p:nvSpPr>
        <p:spPr bwMode="auto">
          <a:xfrm>
            <a:off x="499095" y="402506"/>
            <a:ext cx="7473032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600">
                <a:solidFill>
                  <a:srgbClr val="F98AC7"/>
                </a:solidFill>
                <a:latin typeface="Lora"/>
                <a:ea typeface="Lora"/>
                <a:cs typeface="Lora"/>
              </a:rPr>
              <a:t>Dominio DSS — Instrumento de Recopilación</a:t>
            </a:r>
            <a:endParaRPr lang="en-US" sz="2600"/>
          </a:p>
        </p:txBody>
      </p:sp>
      <p:sp>
        <p:nvSpPr>
          <p:cNvPr id="390461879" name="Text 1"/>
          <p:cNvSpPr/>
          <p:nvPr/>
        </p:nvSpPr>
        <p:spPr bwMode="auto">
          <a:xfrm>
            <a:off x="499095" y="1093663"/>
            <a:ext cx="8603010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Preguntas de evaluación alineadas a los procesos COBIT 2019 del dominio DSS:</a:t>
            </a:r>
            <a:endParaRPr lang="en-US" sz="1100"/>
          </a:p>
        </p:txBody>
      </p:sp>
      <p:sp>
        <p:nvSpPr>
          <p:cNvPr id="360827303" name="Shape 2"/>
          <p:cNvSpPr/>
          <p:nvPr/>
        </p:nvSpPr>
        <p:spPr bwMode="auto">
          <a:xfrm>
            <a:off x="499095" y="1469231"/>
            <a:ext cx="8145810" cy="3271689"/>
          </a:xfrm>
          <a:prstGeom prst="roundRect">
            <a:avLst>
              <a:gd name="adj" fmla="val 65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99262984" name="Shape 3"/>
          <p:cNvSpPr/>
          <p:nvPr/>
        </p:nvSpPr>
        <p:spPr bwMode="auto">
          <a:xfrm>
            <a:off x="503858" y="1473994"/>
            <a:ext cx="8136285" cy="395213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753894269" name="Text 4"/>
          <p:cNvSpPr/>
          <p:nvPr/>
        </p:nvSpPr>
        <p:spPr bwMode="auto">
          <a:xfrm>
            <a:off x="646584" y="1560240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Proceso</a:t>
            </a:r>
            <a:endParaRPr lang="en-US" sz="1100"/>
          </a:p>
        </p:txBody>
      </p:sp>
      <p:sp>
        <p:nvSpPr>
          <p:cNvPr id="654168713" name="Text 5"/>
          <p:cNvSpPr/>
          <p:nvPr/>
        </p:nvSpPr>
        <p:spPr bwMode="auto">
          <a:xfrm>
            <a:off x="2113434" y="1560240"/>
            <a:ext cx="342178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Pregunta de Evaluación</a:t>
            </a:r>
            <a:endParaRPr lang="en-US" sz="1100"/>
          </a:p>
        </p:txBody>
      </p:sp>
      <p:sp>
        <p:nvSpPr>
          <p:cNvPr id="1211138835" name="Text 6"/>
          <p:cNvSpPr/>
          <p:nvPr/>
        </p:nvSpPr>
        <p:spPr bwMode="auto">
          <a:xfrm>
            <a:off x="5367933" y="1560240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Evidencia Requerida</a:t>
            </a:r>
            <a:endParaRPr lang="en-US" sz="1100"/>
          </a:p>
        </p:txBody>
      </p:sp>
      <p:sp>
        <p:nvSpPr>
          <p:cNvPr id="228106776" name="Shape 7"/>
          <p:cNvSpPr/>
          <p:nvPr/>
        </p:nvSpPr>
        <p:spPr bwMode="auto">
          <a:xfrm>
            <a:off x="503858" y="1869206"/>
            <a:ext cx="8136285" cy="617934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773930390" name="Text 8"/>
          <p:cNvSpPr/>
          <p:nvPr/>
        </p:nvSpPr>
        <p:spPr bwMode="auto">
          <a:xfrm>
            <a:off x="646584" y="1955453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DSS01</a:t>
            </a:r>
            <a:endParaRPr lang="en-US" sz="1100"/>
          </a:p>
        </p:txBody>
      </p:sp>
      <p:sp>
        <p:nvSpPr>
          <p:cNvPr id="389549323" name="Text 9"/>
          <p:cNvSpPr/>
          <p:nvPr/>
        </p:nvSpPr>
        <p:spPr bwMode="auto">
          <a:xfrm>
            <a:off x="2113434" y="1955453"/>
            <a:ext cx="296458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mantenimiento preventivo para hardware de red y UPS?</a:t>
            </a:r>
            <a:endParaRPr lang="en-US" sz="1100"/>
          </a:p>
        </p:txBody>
      </p:sp>
      <p:sp>
        <p:nvSpPr>
          <p:cNvPr id="508513387" name="Text 10"/>
          <p:cNvSpPr/>
          <p:nvPr/>
        </p:nvSpPr>
        <p:spPr bwMode="auto">
          <a:xfrm>
            <a:off x="5367933" y="1955453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Cronograma de mantenimiento, bitácoras</a:t>
            </a:r>
            <a:endParaRPr lang="en-US" sz="1100"/>
          </a:p>
        </p:txBody>
      </p:sp>
      <p:sp>
        <p:nvSpPr>
          <p:cNvPr id="73325147" name="Shape 11"/>
          <p:cNvSpPr/>
          <p:nvPr/>
        </p:nvSpPr>
        <p:spPr bwMode="auto">
          <a:xfrm>
            <a:off x="503858" y="2487141"/>
            <a:ext cx="8136285" cy="617934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795041863" name="Text 12"/>
          <p:cNvSpPr/>
          <p:nvPr/>
        </p:nvSpPr>
        <p:spPr bwMode="auto">
          <a:xfrm>
            <a:off x="646584" y="2573387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DSS02</a:t>
            </a:r>
            <a:endParaRPr lang="en-US" sz="1100"/>
          </a:p>
        </p:txBody>
      </p:sp>
      <p:sp>
        <p:nvSpPr>
          <p:cNvPr id="2079909833" name="Text 13"/>
          <p:cNvSpPr/>
          <p:nvPr/>
        </p:nvSpPr>
        <p:spPr bwMode="auto">
          <a:xfrm>
            <a:off x="2113434" y="2573387"/>
            <a:ext cx="296458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¿Cómo se reportan interrupciones de conectividad?</a:t>
            </a:r>
            <a:endParaRPr lang="en-US" sz="1100"/>
          </a:p>
        </p:txBody>
      </p:sp>
      <p:sp>
        <p:nvSpPr>
          <p:cNvPr id="1933682889" name="Text 14"/>
          <p:cNvSpPr/>
          <p:nvPr/>
        </p:nvSpPr>
        <p:spPr bwMode="auto">
          <a:xfrm>
            <a:off x="5367933" y="2573387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Sistema de tickets, formatos de reporte</a:t>
            </a:r>
            <a:endParaRPr lang="en-US" sz="1100"/>
          </a:p>
        </p:txBody>
      </p:sp>
      <p:sp>
        <p:nvSpPr>
          <p:cNvPr id="1762731836" name="Shape 15"/>
          <p:cNvSpPr/>
          <p:nvPr/>
        </p:nvSpPr>
        <p:spPr bwMode="auto">
          <a:xfrm>
            <a:off x="503858" y="3105076"/>
            <a:ext cx="8136285" cy="395213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186173827" name="Text 16"/>
          <p:cNvSpPr/>
          <p:nvPr/>
        </p:nvSpPr>
        <p:spPr bwMode="auto">
          <a:xfrm>
            <a:off x="646584" y="3191321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DSS03</a:t>
            </a:r>
            <a:endParaRPr lang="en-US" sz="1100"/>
          </a:p>
        </p:txBody>
      </p:sp>
      <p:sp>
        <p:nvSpPr>
          <p:cNvPr id="656407874" name="Text 17"/>
          <p:cNvSpPr/>
          <p:nvPr/>
        </p:nvSpPr>
        <p:spPr bwMode="auto">
          <a:xfrm>
            <a:off x="2113434" y="3191321"/>
            <a:ext cx="342178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¿Se analiza la causa raíz de caídas recurrentes?</a:t>
            </a:r>
            <a:endParaRPr lang="en-US" sz="1100"/>
          </a:p>
        </p:txBody>
      </p:sp>
      <p:sp>
        <p:nvSpPr>
          <p:cNvPr id="1315226440" name="Text 18"/>
          <p:cNvSpPr/>
          <p:nvPr/>
        </p:nvSpPr>
        <p:spPr bwMode="auto">
          <a:xfrm>
            <a:off x="5367933" y="3191321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Análisis 5 Porqués, base KDB</a:t>
            </a:r>
            <a:endParaRPr lang="en-US" sz="1100"/>
          </a:p>
        </p:txBody>
      </p:sp>
      <p:sp>
        <p:nvSpPr>
          <p:cNvPr id="2137650878" name="Shape 19"/>
          <p:cNvSpPr/>
          <p:nvPr/>
        </p:nvSpPr>
        <p:spPr bwMode="auto">
          <a:xfrm>
            <a:off x="503858" y="3500289"/>
            <a:ext cx="8136285" cy="617934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221253381" name="Text 20"/>
          <p:cNvSpPr/>
          <p:nvPr/>
        </p:nvSpPr>
        <p:spPr bwMode="auto">
          <a:xfrm>
            <a:off x="646584" y="3586535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DSS04</a:t>
            </a:r>
            <a:endParaRPr lang="en-US" sz="1100"/>
          </a:p>
        </p:txBody>
      </p:sp>
      <p:sp>
        <p:nvSpPr>
          <p:cNvPr id="1401747084" name="Text 21"/>
          <p:cNvSpPr/>
          <p:nvPr/>
        </p:nvSpPr>
        <p:spPr bwMode="auto">
          <a:xfrm>
            <a:off x="2113434" y="3586535"/>
            <a:ext cx="296458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Plan de Recuperación ante Desastres (DRP)?</a:t>
            </a:r>
            <a:endParaRPr lang="en-US" sz="1100"/>
          </a:p>
        </p:txBody>
      </p:sp>
      <p:sp>
        <p:nvSpPr>
          <p:cNvPr id="1150500070" name="Text 22"/>
          <p:cNvSpPr/>
          <p:nvPr/>
        </p:nvSpPr>
        <p:spPr bwMode="auto">
          <a:xfrm>
            <a:off x="5367933" y="3586535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Documento DRP, RTO y RPO definidos</a:t>
            </a:r>
            <a:endParaRPr lang="en-US" sz="1100"/>
          </a:p>
        </p:txBody>
      </p:sp>
      <p:sp>
        <p:nvSpPr>
          <p:cNvPr id="145106460" name="Shape 23"/>
          <p:cNvSpPr/>
          <p:nvPr/>
        </p:nvSpPr>
        <p:spPr bwMode="auto">
          <a:xfrm>
            <a:off x="503858" y="4118223"/>
            <a:ext cx="8136285" cy="617934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543930394" name="Text 24"/>
          <p:cNvSpPr/>
          <p:nvPr/>
        </p:nvSpPr>
        <p:spPr bwMode="auto">
          <a:xfrm>
            <a:off x="646584" y="4204469"/>
            <a:ext cx="163413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DSS05</a:t>
            </a:r>
            <a:endParaRPr lang="en-US" sz="1100"/>
          </a:p>
        </p:txBody>
      </p:sp>
      <p:sp>
        <p:nvSpPr>
          <p:cNvPr id="2001443197" name="Text 25"/>
          <p:cNvSpPr/>
          <p:nvPr/>
        </p:nvSpPr>
        <p:spPr bwMode="auto">
          <a:xfrm>
            <a:off x="2113434" y="4204469"/>
            <a:ext cx="296458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segmentación VLAN y controles en terminales?</a:t>
            </a:r>
            <a:endParaRPr lang="en-US" sz="1100"/>
          </a:p>
        </p:txBody>
      </p:sp>
      <p:sp>
        <p:nvSpPr>
          <p:cNvPr id="564588935" name="Text 26"/>
          <p:cNvSpPr/>
          <p:nvPr/>
        </p:nvSpPr>
        <p:spPr bwMode="auto">
          <a:xfrm>
            <a:off x="5367933" y="4204469"/>
            <a:ext cx="358683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Configuraciones de switches, políticas de grupo</a:t>
            </a:r>
            <a:endParaRPr lang="en-US" sz="1100"/>
          </a:p>
        </p:txBody>
      </p:sp>
      <p:sp>
        <p:nvSpPr>
          <p:cNvPr id="1349689644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782685" name="Text 0"/>
          <p:cNvSpPr/>
          <p:nvPr/>
        </p:nvSpPr>
        <p:spPr bwMode="auto">
          <a:xfrm>
            <a:off x="507281" y="438373"/>
            <a:ext cx="4529063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650">
                <a:solidFill>
                  <a:srgbClr val="F98AC7"/>
                </a:solidFill>
                <a:latin typeface="Lora"/>
                <a:ea typeface="Lora"/>
                <a:cs typeface="Lora"/>
              </a:rPr>
              <a:t>Hallazgos — Dominio DSS</a:t>
            </a:r>
            <a:endParaRPr lang="en-US" sz="2650"/>
          </a:p>
        </p:txBody>
      </p:sp>
      <p:pic>
        <p:nvPicPr>
          <p:cNvPr id="2544635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7281" y="1582415"/>
            <a:ext cx="2615431" cy="2615431"/>
          </a:xfrm>
          <a:prstGeom prst="rect">
            <a:avLst/>
          </a:prstGeom>
        </p:spPr>
      </p:pic>
      <p:sp>
        <p:nvSpPr>
          <p:cNvPr id="368912169" name="Shape 1"/>
          <p:cNvSpPr/>
          <p:nvPr/>
        </p:nvSpPr>
        <p:spPr bwMode="auto">
          <a:xfrm>
            <a:off x="3481090" y="1233115"/>
            <a:ext cx="2509986" cy="1579215"/>
          </a:xfrm>
          <a:prstGeom prst="roundRect">
            <a:avLst>
              <a:gd name="adj" fmla="val 579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29658659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62040" y="1233115"/>
            <a:ext cx="76200" cy="1579215"/>
          </a:xfrm>
          <a:prstGeom prst="rect">
            <a:avLst/>
          </a:prstGeom>
        </p:spPr>
      </p:pic>
      <p:sp>
        <p:nvSpPr>
          <p:cNvPr id="1990525931" name="Text 2"/>
          <p:cNvSpPr/>
          <p:nvPr/>
        </p:nvSpPr>
        <p:spPr bwMode="auto">
          <a:xfrm>
            <a:off x="3702174" y="1397050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D6E5EF"/>
                </a:solidFill>
                <a:latin typeface="Lora"/>
                <a:ea typeface="Lora"/>
                <a:cs typeface="Lora"/>
              </a:rPr>
              <a:t>DSS01 – Operaciones</a:t>
            </a:r>
            <a:endParaRPr lang="en-US" sz="1300"/>
          </a:p>
        </p:txBody>
      </p:sp>
      <p:sp>
        <p:nvSpPr>
          <p:cNvPr id="566102672" name="Text 3"/>
          <p:cNvSpPr/>
          <p:nvPr/>
        </p:nvSpPr>
        <p:spPr bwMode="auto">
          <a:xfrm>
            <a:off x="3702174" y="1750442"/>
            <a:ext cx="2124968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Núcleo de red a </a:t>
            </a:r>
            <a:r>
              <a:rPr lang="en-US" sz="110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32°C+</a:t>
            </a: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 sin ventilación. Switches Fast Ethernet limitan la red a 100 Mbps.</a:t>
            </a:r>
            <a:endParaRPr lang="en-US" sz="1100"/>
          </a:p>
        </p:txBody>
      </p:sp>
      <p:sp>
        <p:nvSpPr>
          <p:cNvPr id="476661452" name="Shape 4"/>
          <p:cNvSpPr/>
          <p:nvPr/>
        </p:nvSpPr>
        <p:spPr bwMode="auto">
          <a:xfrm>
            <a:off x="6131421" y="1233115"/>
            <a:ext cx="2509986" cy="1579215"/>
          </a:xfrm>
          <a:prstGeom prst="roundRect">
            <a:avLst>
              <a:gd name="adj" fmla="val 579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7862314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12371" y="1233115"/>
            <a:ext cx="76200" cy="1579215"/>
          </a:xfrm>
          <a:prstGeom prst="rect">
            <a:avLst/>
          </a:prstGeom>
        </p:spPr>
      </p:pic>
      <p:sp>
        <p:nvSpPr>
          <p:cNvPr id="2012534689" name="Text 5"/>
          <p:cNvSpPr/>
          <p:nvPr/>
        </p:nvSpPr>
        <p:spPr bwMode="auto">
          <a:xfrm>
            <a:off x="6352505" y="1397050"/>
            <a:ext cx="2124968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D6E5EF"/>
                </a:solidFill>
                <a:latin typeface="Lora"/>
                <a:ea typeface="Lora"/>
                <a:cs typeface="Lora"/>
              </a:rPr>
              <a:t>DSS02/DSS03 – Incidentes</a:t>
            </a:r>
            <a:endParaRPr lang="en-US" sz="1300"/>
          </a:p>
        </p:txBody>
      </p:sp>
      <p:sp>
        <p:nvSpPr>
          <p:cNvPr id="516453913" name="Text 6"/>
          <p:cNvSpPr/>
          <p:nvPr/>
        </p:nvSpPr>
        <p:spPr bwMode="auto">
          <a:xfrm>
            <a:off x="6352505" y="1963489"/>
            <a:ext cx="2124968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Sin sistema de tickets. Incidentes reportados verbalmente, sin análisis de causa raíz.</a:t>
            </a:r>
            <a:endParaRPr lang="en-US" sz="1100"/>
          </a:p>
        </p:txBody>
      </p:sp>
      <p:sp>
        <p:nvSpPr>
          <p:cNvPr id="696438359" name="Shape 7"/>
          <p:cNvSpPr/>
          <p:nvPr/>
        </p:nvSpPr>
        <p:spPr bwMode="auto">
          <a:xfrm>
            <a:off x="3481090" y="2952675"/>
            <a:ext cx="2509986" cy="1594470"/>
          </a:xfrm>
          <a:prstGeom prst="roundRect">
            <a:avLst>
              <a:gd name="adj" fmla="val 5735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61463768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462040" y="2952675"/>
            <a:ext cx="76200" cy="1594470"/>
          </a:xfrm>
          <a:prstGeom prst="rect">
            <a:avLst/>
          </a:prstGeom>
        </p:spPr>
      </p:pic>
      <p:sp>
        <p:nvSpPr>
          <p:cNvPr id="543352027" name="Text 8"/>
          <p:cNvSpPr/>
          <p:nvPr/>
        </p:nvSpPr>
        <p:spPr bwMode="auto">
          <a:xfrm>
            <a:off x="3702174" y="3116610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D6E5EF"/>
                </a:solidFill>
                <a:latin typeface="Lora"/>
                <a:ea typeface="Lora"/>
                <a:cs typeface="Lora"/>
              </a:rPr>
              <a:t>DSS04 – Continuidad</a:t>
            </a:r>
            <a:endParaRPr lang="en-US" sz="1300"/>
          </a:p>
        </p:txBody>
      </p:sp>
      <p:sp>
        <p:nvSpPr>
          <p:cNvPr id="1688478080" name="Text 9"/>
          <p:cNvSpPr/>
          <p:nvPr/>
        </p:nvSpPr>
        <p:spPr bwMode="auto">
          <a:xfrm>
            <a:off x="3702174" y="3470002"/>
            <a:ext cx="2124968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Sin DRP. Fallo del switch principal paralizaría el reporte epidemiológico del SISNIVEN.</a:t>
            </a:r>
            <a:endParaRPr lang="en-US" sz="1100"/>
          </a:p>
        </p:txBody>
      </p:sp>
      <p:sp>
        <p:nvSpPr>
          <p:cNvPr id="1473169532" name="Shape 10"/>
          <p:cNvSpPr/>
          <p:nvPr/>
        </p:nvSpPr>
        <p:spPr bwMode="auto">
          <a:xfrm>
            <a:off x="6131421" y="2952675"/>
            <a:ext cx="2509986" cy="1594470"/>
          </a:xfrm>
          <a:prstGeom prst="roundRect">
            <a:avLst>
              <a:gd name="adj" fmla="val 5735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pic>
        <p:nvPicPr>
          <p:cNvPr id="946614965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112371" y="2952675"/>
            <a:ext cx="76200" cy="1594470"/>
          </a:xfrm>
          <a:prstGeom prst="rect">
            <a:avLst/>
          </a:prstGeom>
        </p:spPr>
      </p:pic>
      <p:sp>
        <p:nvSpPr>
          <p:cNvPr id="1292561721" name="Text 11"/>
          <p:cNvSpPr/>
          <p:nvPr/>
        </p:nvSpPr>
        <p:spPr bwMode="auto">
          <a:xfrm>
            <a:off x="6352505" y="3116610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D6E5EF"/>
                </a:solidFill>
                <a:latin typeface="Lora"/>
                <a:ea typeface="Lora"/>
                <a:cs typeface="Lora"/>
              </a:rPr>
              <a:t>DSS05 – Seguridad</a:t>
            </a:r>
            <a:endParaRPr lang="en-US" sz="1300"/>
          </a:p>
        </p:txBody>
      </p:sp>
      <p:sp>
        <p:nvSpPr>
          <p:cNvPr id="179342009" name="Text 12"/>
          <p:cNvSpPr/>
          <p:nvPr/>
        </p:nvSpPr>
        <p:spPr bwMode="auto">
          <a:xfrm>
            <a:off x="6352505" y="3470002"/>
            <a:ext cx="2124968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Red plana sin VLANs. Áreas críticas comparten dominio con áreas comunes; conexiones privadas no controladas.</a:t>
            </a:r>
            <a:endParaRPr lang="en-US" sz="1100"/>
          </a:p>
        </p:txBody>
      </p:sp>
      <p:sp>
        <p:nvSpPr>
          <p:cNvPr id="1606597813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621560" name="Text 0"/>
          <p:cNvSpPr/>
          <p:nvPr/>
        </p:nvSpPr>
        <p:spPr bwMode="auto">
          <a:xfrm>
            <a:off x="523577" y="1028179"/>
            <a:ext cx="691254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Informe Preliminar — Nivel de Madurez</a:t>
            </a:r>
            <a:endParaRPr lang="en-US" sz="2750"/>
          </a:p>
        </p:txBody>
      </p:sp>
      <p:sp>
        <p:nvSpPr>
          <p:cNvPr id="1165187359" name="Text 1"/>
          <p:cNvSpPr/>
          <p:nvPr/>
        </p:nvSpPr>
        <p:spPr bwMode="auto">
          <a:xfrm>
            <a:off x="523577" y="18421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3850">
                <a:solidFill>
                  <a:srgbClr val="D6E5EF"/>
                </a:solidFill>
                <a:latin typeface="Lora"/>
                <a:ea typeface="Lora"/>
                <a:cs typeface="Lora"/>
              </a:rPr>
              <a:t>0-1</a:t>
            </a:r>
            <a:endParaRPr lang="en-US" sz="3850"/>
          </a:p>
        </p:txBody>
      </p:sp>
      <p:sp>
        <p:nvSpPr>
          <p:cNvPr id="852045533" name="Text 2"/>
          <p:cNvSpPr/>
          <p:nvPr/>
        </p:nvSpPr>
        <p:spPr bwMode="auto">
          <a:xfrm>
            <a:off x="930622" y="252286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Nivel COBIT</a:t>
            </a:r>
            <a:endParaRPr lang="en-US" sz="1350"/>
          </a:p>
        </p:txBody>
      </p:sp>
      <p:sp>
        <p:nvSpPr>
          <p:cNvPr id="1327001979" name="Text 3"/>
          <p:cNvSpPr/>
          <p:nvPr/>
        </p:nvSpPr>
        <p:spPr bwMode="auto">
          <a:xfrm>
            <a:off x="523577" y="2832571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Madurez tecnológica deficiente (Incompleto – Inicial)</a:t>
            </a:r>
            <a:endParaRPr lang="en-US" sz="1150"/>
          </a:p>
        </p:txBody>
      </p:sp>
      <p:sp>
        <p:nvSpPr>
          <p:cNvPr id="427162165" name="Text 4"/>
          <p:cNvSpPr/>
          <p:nvPr/>
        </p:nvSpPr>
        <p:spPr bwMode="auto">
          <a:xfrm>
            <a:off x="3284860" y="18421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3850">
                <a:solidFill>
                  <a:srgbClr val="D6E5EF"/>
                </a:solidFill>
                <a:latin typeface="Lora"/>
                <a:ea typeface="Lora"/>
                <a:cs typeface="Lora"/>
              </a:rPr>
              <a:t>14</a:t>
            </a:r>
            <a:endParaRPr lang="en-US" sz="3850"/>
          </a:p>
        </p:txBody>
      </p:sp>
      <p:sp>
        <p:nvSpPr>
          <p:cNvPr id="1117335606" name="Text 5"/>
          <p:cNvSpPr/>
          <p:nvPr/>
        </p:nvSpPr>
        <p:spPr bwMode="auto">
          <a:xfrm>
            <a:off x="3691905" y="252286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Áreas WiFi</a:t>
            </a:r>
            <a:endParaRPr lang="en-US" sz="1350"/>
          </a:p>
        </p:txBody>
      </p:sp>
      <p:sp>
        <p:nvSpPr>
          <p:cNvPr id="1690413350" name="Text 6"/>
          <p:cNvSpPr/>
          <p:nvPr/>
        </p:nvSpPr>
        <p:spPr bwMode="auto">
          <a:xfrm>
            <a:off x="3284860" y="2832571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Con cifrado no verificado, exponiendo datos sensibles</a:t>
            </a:r>
            <a:endParaRPr lang="en-US" sz="1150"/>
          </a:p>
        </p:txBody>
      </p:sp>
      <p:sp>
        <p:nvSpPr>
          <p:cNvPr id="1302220127" name="Text 7"/>
          <p:cNvSpPr/>
          <p:nvPr/>
        </p:nvSpPr>
        <p:spPr bwMode="auto">
          <a:xfrm>
            <a:off x="6046143" y="18421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3850">
                <a:solidFill>
                  <a:srgbClr val="D6E5EF"/>
                </a:solidFill>
                <a:latin typeface="Lora"/>
                <a:ea typeface="Lora"/>
                <a:cs typeface="Lora"/>
              </a:rPr>
              <a:t>100</a:t>
            </a:r>
            <a:endParaRPr lang="en-US" sz="3850"/>
          </a:p>
        </p:txBody>
      </p:sp>
      <p:sp>
        <p:nvSpPr>
          <p:cNvPr id="847452967" name="Text 8"/>
          <p:cNvSpPr/>
          <p:nvPr/>
        </p:nvSpPr>
        <p:spPr bwMode="auto">
          <a:xfrm>
            <a:off x="6453188" y="252286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Mbps máx.</a:t>
            </a:r>
            <a:endParaRPr lang="en-US" sz="1350"/>
          </a:p>
        </p:txBody>
      </p:sp>
      <p:sp>
        <p:nvSpPr>
          <p:cNvPr id="1843479677" name="Text 9"/>
          <p:cNvSpPr/>
          <p:nvPr/>
        </p:nvSpPr>
        <p:spPr bwMode="auto">
          <a:xfrm>
            <a:off x="6046143" y="2832571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Velocidad limitada por switches Fast Ethernet obsoletos</a:t>
            </a:r>
            <a:endParaRPr lang="en-US" sz="1150"/>
          </a:p>
        </p:txBody>
      </p:sp>
      <p:sp>
        <p:nvSpPr>
          <p:cNvPr id="1468811476" name="Shape 10"/>
          <p:cNvSpPr/>
          <p:nvPr/>
        </p:nvSpPr>
        <p:spPr bwMode="auto">
          <a:xfrm>
            <a:off x="523577" y="3479602"/>
            <a:ext cx="8096845" cy="635719"/>
          </a:xfrm>
          <a:prstGeom prst="roundRect">
            <a:avLst>
              <a:gd name="adj" fmla="val 3530"/>
            </a:avLst>
          </a:prstGeom>
          <a:solidFill>
            <a:srgbClr val="4B3F02"/>
          </a:solidFill>
          <a:ln/>
        </p:spPr>
      </p:sp>
      <p:pic>
        <p:nvPicPr>
          <p:cNvPr id="75496118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3150" y="3697560"/>
            <a:ext cx="187003" cy="149572"/>
          </a:xfrm>
          <a:prstGeom prst="rect">
            <a:avLst/>
          </a:prstGeom>
        </p:spPr>
      </p:pic>
      <p:sp>
        <p:nvSpPr>
          <p:cNvPr id="896841391" name="Text 11"/>
          <p:cNvSpPr/>
          <p:nvPr/>
        </p:nvSpPr>
        <p:spPr bwMode="auto">
          <a:xfrm>
            <a:off x="1009724" y="3666530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La infraestructura incumple normativas </a:t>
            </a:r>
            <a:r>
              <a:rPr lang="en-US" sz="11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ANSI/TIA-568-C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, </a:t>
            </a:r>
            <a:r>
              <a:rPr lang="en-US" sz="11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ISO/IEC 27001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 y la </a:t>
            </a:r>
            <a:r>
              <a:rPr lang="en-US" sz="11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Ley 921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 de Protección de Datos Personales.</a:t>
            </a:r>
            <a:endParaRPr lang="en-US" sz="1150"/>
          </a:p>
        </p:txBody>
      </p:sp>
      <p:sp>
        <p:nvSpPr>
          <p:cNvPr id="618168870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000606" name="Text 0"/>
          <p:cNvSpPr/>
          <p:nvPr/>
        </p:nvSpPr>
        <p:spPr bwMode="auto">
          <a:xfrm>
            <a:off x="548953" y="372666"/>
            <a:ext cx="4092253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>
                <a:solidFill>
                  <a:srgbClr val="F98AC7"/>
                </a:solidFill>
                <a:latin typeface="Lora"/>
                <a:ea typeface="Lora"/>
                <a:cs typeface="Lora"/>
              </a:rPr>
              <a:t>Plan de Mejora Estratégico</a:t>
            </a:r>
            <a:endParaRPr lang="en-US" sz="2250"/>
          </a:p>
        </p:txBody>
      </p:sp>
      <p:pic>
        <p:nvPicPr>
          <p:cNvPr id="206162439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953" y="942231"/>
            <a:ext cx="8046095" cy="3531989"/>
          </a:xfrm>
          <a:prstGeom prst="rect">
            <a:avLst/>
          </a:prstGeom>
        </p:spPr>
      </p:pic>
      <p:sp>
        <p:nvSpPr>
          <p:cNvPr id="384194784" name="Text 1"/>
          <p:cNvSpPr/>
          <p:nvPr/>
        </p:nvSpPr>
        <p:spPr bwMode="auto">
          <a:xfrm>
            <a:off x="1685297" y="3341870"/>
            <a:ext cx="1638994" cy="20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F98AC7"/>
                </a:solidFill>
                <a:latin typeface="Lora"/>
                <a:ea typeface="Lora"/>
                <a:cs typeface="Lora"/>
              </a:rPr>
              <a:t>Corto plazo</a:t>
            </a:r>
            <a:endParaRPr lang="en-US" sz="1250"/>
          </a:p>
        </p:txBody>
      </p:sp>
      <p:sp>
        <p:nvSpPr>
          <p:cNvPr id="1769130429" name="Text 2"/>
          <p:cNvSpPr/>
          <p:nvPr/>
        </p:nvSpPr>
        <p:spPr bwMode="auto">
          <a:xfrm>
            <a:off x="1913897" y="3608861"/>
            <a:ext cx="1410394" cy="47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0-30 días: matriz de riesgo, auditoría WiFi, sistema de tickets</a:t>
            </a:r>
            <a:endParaRPr lang="en-US" sz="1050"/>
          </a:p>
        </p:txBody>
      </p:sp>
      <p:sp>
        <p:nvSpPr>
          <p:cNvPr id="2104583996" name="Text 3"/>
          <p:cNvSpPr/>
          <p:nvPr/>
        </p:nvSpPr>
        <p:spPr bwMode="auto">
          <a:xfrm>
            <a:off x="5645249" y="2968928"/>
            <a:ext cx="1638994" cy="20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F98AC7"/>
                </a:solidFill>
                <a:latin typeface="Lora"/>
                <a:ea typeface="Lora"/>
                <a:cs typeface="Lora"/>
              </a:rPr>
              <a:t>Largo plazo</a:t>
            </a:r>
            <a:endParaRPr lang="en-US" sz="1250"/>
          </a:p>
        </p:txBody>
      </p:sp>
      <p:sp>
        <p:nvSpPr>
          <p:cNvPr id="1525532053" name="Text 4"/>
          <p:cNvSpPr/>
          <p:nvPr/>
        </p:nvSpPr>
        <p:spPr bwMode="auto">
          <a:xfrm>
            <a:off x="5873849" y="3235921"/>
            <a:ext cx="1410394" cy="79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2-6 meses: puntos cableados, monitoreo de ancho de banda, mantenimiento preventivo</a:t>
            </a:r>
            <a:endParaRPr lang="en-US" sz="1050"/>
          </a:p>
        </p:txBody>
      </p:sp>
      <p:sp>
        <p:nvSpPr>
          <p:cNvPr id="1305009988" name="Text 5"/>
          <p:cNvSpPr/>
          <p:nvPr/>
        </p:nvSpPr>
        <p:spPr bwMode="auto">
          <a:xfrm>
            <a:off x="3676897" y="1312613"/>
            <a:ext cx="1638993" cy="20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F98AC7"/>
                </a:solidFill>
                <a:latin typeface="Lora"/>
                <a:ea typeface="Lora"/>
                <a:cs typeface="Lora"/>
              </a:rPr>
              <a:t>Medio plazo</a:t>
            </a:r>
            <a:endParaRPr lang="en-US" sz="1250"/>
          </a:p>
        </p:txBody>
      </p:sp>
      <p:sp>
        <p:nvSpPr>
          <p:cNvPr id="1109170716" name="Text 6"/>
          <p:cNvSpPr/>
          <p:nvPr/>
        </p:nvSpPr>
        <p:spPr bwMode="auto">
          <a:xfrm>
            <a:off x="3905497" y="1579604"/>
            <a:ext cx="1410393" cy="47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30-60 días: switches gigabit, VLANs, montaje en rack</a:t>
            </a:r>
            <a:endParaRPr lang="en-US" sz="1050"/>
          </a:p>
        </p:txBody>
      </p:sp>
      <p:sp>
        <p:nvSpPr>
          <p:cNvPr id="1265577887" name="Text 7"/>
          <p:cNvSpPr/>
          <p:nvPr/>
        </p:nvSpPr>
        <p:spPr bwMode="auto">
          <a:xfrm>
            <a:off x="548953" y="4589636"/>
            <a:ext cx="85032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9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El plan aborda las brechas críticas en tres fases progresivas, priorizando la reducción del riesgo de parálisis en la transmisión de datos de salud pública.</a:t>
            </a:r>
            <a:endParaRPr lang="en-US" sz="950"/>
          </a:p>
        </p:txBody>
      </p:sp>
      <p:sp>
        <p:nvSpPr>
          <p:cNvPr id="1111714739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648456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1817518110" name="Text 0"/>
          <p:cNvSpPr/>
          <p:nvPr/>
        </p:nvSpPr>
        <p:spPr bwMode="auto">
          <a:xfrm>
            <a:off x="523577" y="41389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Dominio APO — Alinear, Planificar y Organizar</a:t>
            </a:r>
            <a:endParaRPr lang="en-US" sz="2750"/>
          </a:p>
        </p:txBody>
      </p:sp>
      <p:sp>
        <p:nvSpPr>
          <p:cNvPr id="2116753262" name="Text 1"/>
          <p:cNvSpPr/>
          <p:nvPr/>
        </p:nvSpPr>
        <p:spPr bwMode="auto">
          <a:xfrm>
            <a:off x="523577" y="1518270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El dominio APO es la </a:t>
            </a:r>
            <a:r>
              <a:rPr lang="en-US" sz="11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columna vertebral estratégica</a:t>
            </a: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 de COBIT 2019. Traduce las directrices corporativas (EDM) en ejecución operativa, respondiendo: ¿Están las TI alineadas al negocio? ¿Se gestionan los recursos y riesgos adecuadamente?</a:t>
            </a:r>
            <a:endParaRPr lang="en-US" sz="1150"/>
          </a:p>
        </p:txBody>
      </p:sp>
      <p:sp>
        <p:nvSpPr>
          <p:cNvPr id="1977293102" name="Shape 2"/>
          <p:cNvSpPr/>
          <p:nvPr/>
        </p:nvSpPr>
        <p:spPr bwMode="auto">
          <a:xfrm>
            <a:off x="523577" y="2644080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65980976" name="Text 3"/>
          <p:cNvSpPr/>
          <p:nvPr/>
        </p:nvSpPr>
        <p:spPr bwMode="auto">
          <a:xfrm>
            <a:off x="673150" y="279365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APO01–04</a:t>
            </a:r>
            <a:endParaRPr lang="en-US" sz="1350"/>
          </a:p>
        </p:txBody>
      </p:sp>
      <p:sp>
        <p:nvSpPr>
          <p:cNvPr id="1066348923" name="Text 4"/>
          <p:cNvSpPr/>
          <p:nvPr/>
        </p:nvSpPr>
        <p:spPr bwMode="auto">
          <a:xfrm>
            <a:off x="673150" y="310336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Estrategia, Arquitectura e Innovación</a:t>
            </a:r>
            <a:endParaRPr lang="en-US" sz="1150"/>
          </a:p>
        </p:txBody>
      </p:sp>
      <p:sp>
        <p:nvSpPr>
          <p:cNvPr id="1436379445" name="Shape 5"/>
          <p:cNvSpPr/>
          <p:nvPr/>
        </p:nvSpPr>
        <p:spPr bwMode="auto">
          <a:xfrm>
            <a:off x="2932286" y="2644080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482181689" name="Text 6"/>
          <p:cNvSpPr/>
          <p:nvPr/>
        </p:nvSpPr>
        <p:spPr bwMode="auto">
          <a:xfrm>
            <a:off x="3081858" y="279365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APO05–10</a:t>
            </a:r>
            <a:endParaRPr lang="en-US" sz="1350"/>
          </a:p>
        </p:txBody>
      </p:sp>
      <p:sp>
        <p:nvSpPr>
          <p:cNvPr id="156041688" name="Text 7"/>
          <p:cNvSpPr/>
          <p:nvPr/>
        </p:nvSpPr>
        <p:spPr bwMode="auto">
          <a:xfrm>
            <a:off x="3081858" y="310336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Inversiones, Recursos y Relaciones</a:t>
            </a:r>
            <a:endParaRPr lang="en-US" sz="1150"/>
          </a:p>
        </p:txBody>
      </p:sp>
      <p:sp>
        <p:nvSpPr>
          <p:cNvPr id="1526319614" name="Shape 8"/>
          <p:cNvSpPr/>
          <p:nvPr/>
        </p:nvSpPr>
        <p:spPr bwMode="auto">
          <a:xfrm>
            <a:off x="523577" y="3881288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372540873" name="Text 9"/>
          <p:cNvSpPr/>
          <p:nvPr/>
        </p:nvSpPr>
        <p:spPr bwMode="auto">
          <a:xfrm>
            <a:off x="673150" y="403086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APO11–14</a:t>
            </a:r>
            <a:endParaRPr lang="en-US" sz="1350"/>
          </a:p>
        </p:txBody>
      </p:sp>
      <p:sp>
        <p:nvSpPr>
          <p:cNvPr id="2025291385" name="Text 10"/>
          <p:cNvSpPr/>
          <p:nvPr/>
        </p:nvSpPr>
        <p:spPr bwMode="auto">
          <a:xfrm>
            <a:off x="673150" y="4340572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Calidad, Riesgo, Seguridad y Datos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794852" name="Text 0"/>
          <p:cNvSpPr/>
          <p:nvPr/>
        </p:nvSpPr>
        <p:spPr bwMode="auto">
          <a:xfrm>
            <a:off x="523577" y="708347"/>
            <a:ext cx="712403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Herramienta 1 — Entrevista Estructurada</a:t>
            </a:r>
            <a:endParaRPr lang="en-US" sz="2750"/>
          </a:p>
        </p:txBody>
      </p:sp>
      <p:sp>
        <p:nvSpPr>
          <p:cNvPr id="1785167473" name="Text 1"/>
          <p:cNvSpPr/>
          <p:nvPr/>
        </p:nvSpPr>
        <p:spPr bwMode="auto">
          <a:xfrm>
            <a:off x="523577" y="1447577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Dirigida a la Dirección del SILAIS Masaya. Evalúa APO01, APO06 y APO07.</a:t>
            </a:r>
            <a:endParaRPr lang="en-US" sz="1150"/>
          </a:p>
        </p:txBody>
      </p:sp>
      <p:sp>
        <p:nvSpPr>
          <p:cNvPr id="462249930" name="Shape 2"/>
          <p:cNvSpPr/>
          <p:nvPr/>
        </p:nvSpPr>
        <p:spPr bwMode="auto">
          <a:xfrm>
            <a:off x="523577" y="1855217"/>
            <a:ext cx="8096845" cy="2579935"/>
          </a:xfrm>
          <a:prstGeom prst="roundRect">
            <a:avLst>
              <a:gd name="adj" fmla="val 87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207653" name="Shape 3"/>
          <p:cNvSpPr/>
          <p:nvPr/>
        </p:nvSpPr>
        <p:spPr bwMode="auto">
          <a:xfrm>
            <a:off x="528340" y="1859979"/>
            <a:ext cx="8087320" cy="428402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143436150" name="Text 4"/>
          <p:cNvSpPr/>
          <p:nvPr/>
        </p:nvSpPr>
        <p:spPr bwMode="auto">
          <a:xfrm>
            <a:off x="677912" y="1954485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ID</a:t>
            </a:r>
            <a:endParaRPr lang="en-US" sz="1150"/>
          </a:p>
        </p:txBody>
      </p:sp>
      <p:sp>
        <p:nvSpPr>
          <p:cNvPr id="704423276" name="Text 5"/>
          <p:cNvSpPr/>
          <p:nvPr/>
        </p:nvSpPr>
        <p:spPr bwMode="auto">
          <a:xfrm>
            <a:off x="1489025" y="1954485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Pregunta Clave</a:t>
            </a:r>
            <a:endParaRPr lang="en-US" sz="1150"/>
          </a:p>
        </p:txBody>
      </p:sp>
      <p:sp>
        <p:nvSpPr>
          <p:cNvPr id="1825265963" name="Text 6"/>
          <p:cNvSpPr/>
          <p:nvPr/>
        </p:nvSpPr>
        <p:spPr bwMode="auto">
          <a:xfrm>
            <a:off x="5532686" y="1954485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Hallazgo</a:t>
            </a:r>
            <a:endParaRPr lang="en-US" sz="1150"/>
          </a:p>
        </p:txBody>
      </p:sp>
      <p:sp>
        <p:nvSpPr>
          <p:cNvPr id="1532299542" name="Shape 7"/>
          <p:cNvSpPr/>
          <p:nvPr/>
        </p:nvSpPr>
        <p:spPr bwMode="auto">
          <a:xfrm>
            <a:off x="528340" y="2288381"/>
            <a:ext cx="8087320" cy="428402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725672730" name="Text 8"/>
          <p:cNvSpPr/>
          <p:nvPr/>
        </p:nvSpPr>
        <p:spPr bwMode="auto">
          <a:xfrm>
            <a:off x="677912" y="2382887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P-01</a:t>
            </a:r>
            <a:endParaRPr lang="en-US" sz="1150"/>
          </a:p>
        </p:txBody>
      </p:sp>
      <p:sp>
        <p:nvSpPr>
          <p:cNvPr id="1805515919" name="Text 9"/>
          <p:cNvSpPr/>
          <p:nvPr/>
        </p:nvSpPr>
        <p:spPr bwMode="auto">
          <a:xfrm>
            <a:off x="1489025" y="2382887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plan estratégico de TI documentado?</a:t>
            </a:r>
            <a:endParaRPr lang="en-US" sz="1150"/>
          </a:p>
        </p:txBody>
      </p:sp>
      <p:sp>
        <p:nvSpPr>
          <p:cNvPr id="29970776" name="Text 10"/>
          <p:cNvSpPr/>
          <p:nvPr/>
        </p:nvSpPr>
        <p:spPr bwMode="auto">
          <a:xfrm>
            <a:off x="5532686" y="2382887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 plan a 3 años</a:t>
            </a:r>
            <a:endParaRPr lang="en-US" sz="1150"/>
          </a:p>
        </p:txBody>
      </p:sp>
      <p:sp>
        <p:nvSpPr>
          <p:cNvPr id="378944679" name="Shape 11"/>
          <p:cNvSpPr/>
          <p:nvPr/>
        </p:nvSpPr>
        <p:spPr bwMode="auto">
          <a:xfrm>
            <a:off x="528340" y="2716783"/>
            <a:ext cx="8087320" cy="428402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773922296" name="Text 12"/>
          <p:cNvSpPr/>
          <p:nvPr/>
        </p:nvSpPr>
        <p:spPr bwMode="auto">
          <a:xfrm>
            <a:off x="677912" y="2811289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P-02</a:t>
            </a:r>
            <a:endParaRPr lang="en-US" sz="1150"/>
          </a:p>
        </p:txBody>
      </p:sp>
      <p:sp>
        <p:nvSpPr>
          <p:cNvPr id="216114740" name="Text 13"/>
          <p:cNvSpPr/>
          <p:nvPr/>
        </p:nvSpPr>
        <p:spPr bwMode="auto">
          <a:xfrm>
            <a:off x="1489025" y="2811289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comité de TI para decisiones tecnológicas?</a:t>
            </a:r>
            <a:endParaRPr lang="en-US" sz="1150"/>
          </a:p>
        </p:txBody>
      </p:sp>
      <p:sp>
        <p:nvSpPr>
          <p:cNvPr id="21504168" name="Text 14"/>
          <p:cNvSpPr/>
          <p:nvPr/>
        </p:nvSpPr>
        <p:spPr bwMode="auto">
          <a:xfrm>
            <a:off x="5532686" y="2811289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existe; decisiones reactivas</a:t>
            </a:r>
            <a:endParaRPr lang="en-US" sz="1150"/>
          </a:p>
        </p:txBody>
      </p:sp>
      <p:sp>
        <p:nvSpPr>
          <p:cNvPr id="241356299" name="Shape 15"/>
          <p:cNvSpPr/>
          <p:nvPr/>
        </p:nvSpPr>
        <p:spPr bwMode="auto">
          <a:xfrm>
            <a:off x="528340" y="3145185"/>
            <a:ext cx="8087320" cy="428402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47537378" name="Text 16"/>
          <p:cNvSpPr/>
          <p:nvPr/>
        </p:nvSpPr>
        <p:spPr bwMode="auto">
          <a:xfrm>
            <a:off x="677912" y="3239691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P-03</a:t>
            </a:r>
            <a:endParaRPr lang="en-US" sz="1150"/>
          </a:p>
        </p:txBody>
      </p:sp>
      <p:sp>
        <p:nvSpPr>
          <p:cNvPr id="1715981034" name="Text 17"/>
          <p:cNvSpPr/>
          <p:nvPr/>
        </p:nvSpPr>
        <p:spPr bwMode="auto">
          <a:xfrm>
            <a:off x="1489025" y="3239691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¿Hay partida presupuestaria para renovación de red?</a:t>
            </a:r>
            <a:endParaRPr lang="en-US" sz="1150"/>
          </a:p>
        </p:txBody>
      </p:sp>
      <p:sp>
        <p:nvSpPr>
          <p:cNvPr id="303783437" name="Text 18"/>
          <p:cNvSpPr/>
          <p:nvPr/>
        </p:nvSpPr>
        <p:spPr bwMode="auto">
          <a:xfrm>
            <a:off x="5532686" y="3239691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Sin partida exclusiva</a:t>
            </a:r>
            <a:endParaRPr lang="en-US" sz="1150"/>
          </a:p>
        </p:txBody>
      </p:sp>
      <p:sp>
        <p:nvSpPr>
          <p:cNvPr id="992254300" name="Shape 19"/>
          <p:cNvSpPr/>
          <p:nvPr/>
        </p:nvSpPr>
        <p:spPr bwMode="auto">
          <a:xfrm>
            <a:off x="528340" y="3573587"/>
            <a:ext cx="8087320" cy="428402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20925447" name="Text 20"/>
          <p:cNvSpPr/>
          <p:nvPr/>
        </p:nvSpPr>
        <p:spPr bwMode="auto">
          <a:xfrm>
            <a:off x="677912" y="3668092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P-05</a:t>
            </a:r>
            <a:endParaRPr lang="en-US" sz="1150"/>
          </a:p>
        </p:txBody>
      </p:sp>
      <p:sp>
        <p:nvSpPr>
          <p:cNvPr id="851798321" name="Text 21"/>
          <p:cNvSpPr/>
          <p:nvPr/>
        </p:nvSpPr>
        <p:spPr bwMode="auto">
          <a:xfrm>
            <a:off x="1489025" y="3668092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¿Existe cargo formal de Administrador de Red?</a:t>
            </a:r>
            <a:endParaRPr lang="en-US" sz="1150"/>
          </a:p>
        </p:txBody>
      </p:sp>
      <p:sp>
        <p:nvSpPr>
          <p:cNvPr id="1355845858" name="Text 22"/>
          <p:cNvSpPr/>
          <p:nvPr/>
        </p:nvSpPr>
        <p:spPr bwMode="auto">
          <a:xfrm>
            <a:off x="5532686" y="3668092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 en organigrama</a:t>
            </a:r>
            <a:endParaRPr lang="en-US" sz="1150"/>
          </a:p>
        </p:txBody>
      </p:sp>
      <p:sp>
        <p:nvSpPr>
          <p:cNvPr id="773387674" name="Shape 23"/>
          <p:cNvSpPr/>
          <p:nvPr/>
        </p:nvSpPr>
        <p:spPr bwMode="auto">
          <a:xfrm>
            <a:off x="528340" y="4001988"/>
            <a:ext cx="8087320" cy="428402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928224620" name="Text 24"/>
          <p:cNvSpPr/>
          <p:nvPr/>
        </p:nvSpPr>
        <p:spPr bwMode="auto">
          <a:xfrm>
            <a:off x="677912" y="4096494"/>
            <a:ext cx="96440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P-06</a:t>
            </a:r>
            <a:endParaRPr lang="en-US" sz="1150"/>
          </a:p>
        </p:txBody>
      </p:sp>
      <p:sp>
        <p:nvSpPr>
          <p:cNvPr id="813798271" name="Text 25"/>
          <p:cNvSpPr/>
          <p:nvPr/>
        </p:nvSpPr>
        <p:spPr bwMode="auto">
          <a:xfrm>
            <a:off x="1489025" y="4096494"/>
            <a:ext cx="419695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¿Se capacita al personal en ciberseguridad?</a:t>
            </a:r>
            <a:endParaRPr lang="en-US" sz="1150"/>
          </a:p>
        </p:txBody>
      </p:sp>
      <p:sp>
        <p:nvSpPr>
          <p:cNvPr id="750367716" name="Text 26"/>
          <p:cNvSpPr/>
          <p:nvPr/>
        </p:nvSpPr>
        <p:spPr bwMode="auto">
          <a:xfrm>
            <a:off x="5532686" y="4096494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Sin capacitaciones formales</a:t>
            </a:r>
            <a:endParaRPr lang="en-US" sz="1150"/>
          </a:p>
        </p:txBody>
      </p:sp>
      <p:sp>
        <p:nvSpPr>
          <p:cNvPr id="268638112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18385" name="Text 0"/>
          <p:cNvSpPr/>
          <p:nvPr/>
        </p:nvSpPr>
        <p:spPr bwMode="auto">
          <a:xfrm>
            <a:off x="474538" y="421407"/>
            <a:ext cx="7937302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500">
                <a:solidFill>
                  <a:srgbClr val="F98AC7"/>
                </a:solidFill>
                <a:latin typeface="Lora"/>
                <a:ea typeface="Lora"/>
                <a:cs typeface="Lora"/>
              </a:rPr>
              <a:t>Herramienta 2 — Lista de Verificación Documental</a:t>
            </a:r>
            <a:endParaRPr lang="en-US" sz="2500"/>
          </a:p>
        </p:txBody>
      </p:sp>
      <p:pic>
        <p:nvPicPr>
          <p:cNvPr id="51552042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538" y="1536576"/>
            <a:ext cx="2653233" cy="2653233"/>
          </a:xfrm>
          <a:prstGeom prst="rect">
            <a:avLst/>
          </a:prstGeom>
        </p:spPr>
      </p:pic>
      <p:sp>
        <p:nvSpPr>
          <p:cNvPr id="1211532137" name="Shape 1"/>
          <p:cNvSpPr/>
          <p:nvPr/>
        </p:nvSpPr>
        <p:spPr bwMode="auto">
          <a:xfrm>
            <a:off x="3463230" y="1142554"/>
            <a:ext cx="5210919" cy="2761357"/>
          </a:xfrm>
          <a:prstGeom prst="roundRect">
            <a:avLst>
              <a:gd name="adj" fmla="val 73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14559758" name="Shape 2"/>
          <p:cNvSpPr/>
          <p:nvPr/>
        </p:nvSpPr>
        <p:spPr bwMode="auto">
          <a:xfrm>
            <a:off x="3467993" y="1147316"/>
            <a:ext cx="5201394" cy="363587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637782099" name="Text 3"/>
          <p:cNvSpPr/>
          <p:nvPr/>
        </p:nvSpPr>
        <p:spPr bwMode="auto">
          <a:xfrm>
            <a:off x="3603650" y="1225747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Doc.</a:t>
            </a:r>
            <a:endParaRPr lang="en-US" sz="1050"/>
          </a:p>
        </p:txBody>
      </p:sp>
      <p:sp>
        <p:nvSpPr>
          <p:cNvPr id="803257946" name="Text 4"/>
          <p:cNvSpPr/>
          <p:nvPr/>
        </p:nvSpPr>
        <p:spPr bwMode="auto">
          <a:xfrm>
            <a:off x="4386188" y="1225747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Documento Solicitado</a:t>
            </a:r>
            <a:endParaRPr lang="en-US" sz="1050"/>
          </a:p>
        </p:txBody>
      </p:sp>
      <p:sp>
        <p:nvSpPr>
          <p:cNvPr id="1667477594" name="Text 5"/>
          <p:cNvSpPr/>
          <p:nvPr/>
        </p:nvSpPr>
        <p:spPr bwMode="auto">
          <a:xfrm>
            <a:off x="6726808" y="1225747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 b="1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Estado</a:t>
            </a:r>
            <a:endParaRPr lang="en-US" sz="1050"/>
          </a:p>
        </p:txBody>
      </p:sp>
      <p:sp>
        <p:nvSpPr>
          <p:cNvPr id="1414600741" name="Shape 6"/>
          <p:cNvSpPr/>
          <p:nvPr/>
        </p:nvSpPr>
        <p:spPr bwMode="auto">
          <a:xfrm>
            <a:off x="3467993" y="1510903"/>
            <a:ext cx="5201394" cy="363587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623909938" name="Text 7"/>
          <p:cNvSpPr/>
          <p:nvPr/>
        </p:nvSpPr>
        <p:spPr bwMode="auto">
          <a:xfrm>
            <a:off x="3603650" y="1589336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D-01</a:t>
            </a:r>
            <a:endParaRPr lang="en-US" sz="1050"/>
          </a:p>
        </p:txBody>
      </p:sp>
      <p:sp>
        <p:nvSpPr>
          <p:cNvPr id="757420048" name="Text 8"/>
          <p:cNvSpPr/>
          <p:nvPr/>
        </p:nvSpPr>
        <p:spPr bwMode="auto">
          <a:xfrm>
            <a:off x="4386188" y="1589336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Inventario de Activos de Red</a:t>
            </a:r>
            <a:endParaRPr lang="en-US" sz="1050"/>
          </a:p>
        </p:txBody>
      </p:sp>
      <p:sp>
        <p:nvSpPr>
          <p:cNvPr id="1459386929" name="Text 9"/>
          <p:cNvSpPr/>
          <p:nvPr/>
        </p:nvSpPr>
        <p:spPr bwMode="auto">
          <a:xfrm>
            <a:off x="6726808" y="1589336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Incompleto</a:t>
            </a:r>
            <a:endParaRPr lang="en-US" sz="1050"/>
          </a:p>
        </p:txBody>
      </p:sp>
      <p:sp>
        <p:nvSpPr>
          <p:cNvPr id="1019215454" name="Shape 10"/>
          <p:cNvSpPr/>
          <p:nvPr/>
        </p:nvSpPr>
        <p:spPr bwMode="auto">
          <a:xfrm>
            <a:off x="3467993" y="1874490"/>
            <a:ext cx="5201394" cy="363587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352217421" name="Text 11"/>
          <p:cNvSpPr/>
          <p:nvPr/>
        </p:nvSpPr>
        <p:spPr bwMode="auto">
          <a:xfrm>
            <a:off x="3603650" y="1952923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D-02</a:t>
            </a:r>
            <a:endParaRPr lang="en-US" sz="1050"/>
          </a:p>
        </p:txBody>
      </p:sp>
      <p:sp>
        <p:nvSpPr>
          <p:cNvPr id="1747881243" name="Text 12"/>
          <p:cNvSpPr/>
          <p:nvPr/>
        </p:nvSpPr>
        <p:spPr bwMode="auto">
          <a:xfrm>
            <a:off x="4386188" y="1952923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Diagrama de Arquitectura de Red</a:t>
            </a:r>
            <a:endParaRPr lang="en-US" sz="1050"/>
          </a:p>
        </p:txBody>
      </p:sp>
      <p:sp>
        <p:nvSpPr>
          <p:cNvPr id="1841298279" name="Text 13"/>
          <p:cNvSpPr/>
          <p:nvPr/>
        </p:nvSpPr>
        <p:spPr bwMode="auto">
          <a:xfrm>
            <a:off x="6726808" y="1952923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</a:t>
            </a:r>
            <a:endParaRPr lang="en-US" sz="1050"/>
          </a:p>
        </p:txBody>
      </p:sp>
      <p:sp>
        <p:nvSpPr>
          <p:cNvPr id="769463631" name="Shape 14"/>
          <p:cNvSpPr/>
          <p:nvPr/>
        </p:nvSpPr>
        <p:spPr bwMode="auto">
          <a:xfrm>
            <a:off x="3467993" y="2238077"/>
            <a:ext cx="5201394" cy="363587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612901105" name="Text 15"/>
          <p:cNvSpPr/>
          <p:nvPr/>
        </p:nvSpPr>
        <p:spPr bwMode="auto">
          <a:xfrm>
            <a:off x="3603650" y="2316510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D-03</a:t>
            </a:r>
            <a:endParaRPr lang="en-US" sz="1050"/>
          </a:p>
        </p:txBody>
      </p:sp>
      <p:sp>
        <p:nvSpPr>
          <p:cNvPr id="1044392264" name="Text 16"/>
          <p:cNvSpPr/>
          <p:nvPr/>
        </p:nvSpPr>
        <p:spPr bwMode="auto">
          <a:xfrm>
            <a:off x="4386188" y="2316510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Matriz de Riesgos Tecnológicos</a:t>
            </a:r>
            <a:endParaRPr lang="en-US" sz="1050"/>
          </a:p>
        </p:txBody>
      </p:sp>
      <p:sp>
        <p:nvSpPr>
          <p:cNvPr id="395684984" name="Text 17"/>
          <p:cNvSpPr/>
          <p:nvPr/>
        </p:nvSpPr>
        <p:spPr bwMode="auto">
          <a:xfrm>
            <a:off x="6726808" y="2316510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</a:t>
            </a:r>
            <a:endParaRPr lang="en-US" sz="1050"/>
          </a:p>
        </p:txBody>
      </p:sp>
      <p:sp>
        <p:nvSpPr>
          <p:cNvPr id="485913339" name="Shape 18"/>
          <p:cNvSpPr/>
          <p:nvPr/>
        </p:nvSpPr>
        <p:spPr bwMode="auto">
          <a:xfrm>
            <a:off x="3467993" y="2601664"/>
            <a:ext cx="5201394" cy="570309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20408189" name="Text 19"/>
          <p:cNvSpPr/>
          <p:nvPr/>
        </p:nvSpPr>
        <p:spPr bwMode="auto">
          <a:xfrm>
            <a:off x="3603650" y="2680097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D-04</a:t>
            </a:r>
            <a:endParaRPr lang="en-US" sz="1050"/>
          </a:p>
        </p:txBody>
      </p:sp>
      <p:sp>
        <p:nvSpPr>
          <p:cNvPr id="1270263769" name="Text 20"/>
          <p:cNvSpPr/>
          <p:nvPr/>
        </p:nvSpPr>
        <p:spPr bwMode="auto">
          <a:xfrm>
            <a:off x="4386188" y="2680097"/>
            <a:ext cx="206469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Políticas de Seguridad de la Información</a:t>
            </a:r>
            <a:endParaRPr lang="en-US" sz="1050"/>
          </a:p>
        </p:txBody>
      </p:sp>
      <p:sp>
        <p:nvSpPr>
          <p:cNvPr id="822180232" name="Text 21"/>
          <p:cNvSpPr/>
          <p:nvPr/>
        </p:nvSpPr>
        <p:spPr bwMode="auto">
          <a:xfrm>
            <a:off x="6726808" y="2680097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</a:t>
            </a:r>
            <a:endParaRPr lang="en-US" sz="1050"/>
          </a:p>
        </p:txBody>
      </p:sp>
      <p:sp>
        <p:nvSpPr>
          <p:cNvPr id="70510715" name="Shape 22"/>
          <p:cNvSpPr/>
          <p:nvPr/>
        </p:nvSpPr>
        <p:spPr bwMode="auto">
          <a:xfrm>
            <a:off x="3467993" y="3171974"/>
            <a:ext cx="5201394" cy="363587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212701463" name="Text 23"/>
          <p:cNvSpPr/>
          <p:nvPr/>
        </p:nvSpPr>
        <p:spPr bwMode="auto">
          <a:xfrm>
            <a:off x="3603650" y="3250406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D-05</a:t>
            </a:r>
            <a:endParaRPr lang="en-US" sz="1050"/>
          </a:p>
        </p:txBody>
      </p:sp>
      <p:sp>
        <p:nvSpPr>
          <p:cNvPr id="1608595835" name="Text 24"/>
          <p:cNvSpPr/>
          <p:nvPr/>
        </p:nvSpPr>
        <p:spPr bwMode="auto">
          <a:xfrm>
            <a:off x="4386188" y="3250406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Gestión de Contraseñas WiFi</a:t>
            </a:r>
            <a:endParaRPr lang="en-US" sz="1050"/>
          </a:p>
        </p:txBody>
      </p:sp>
      <p:sp>
        <p:nvSpPr>
          <p:cNvPr id="1195842143" name="Text 25"/>
          <p:cNvSpPr/>
          <p:nvPr/>
        </p:nvSpPr>
        <p:spPr bwMode="auto">
          <a:xfrm>
            <a:off x="6726808" y="3250406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</a:t>
            </a:r>
            <a:endParaRPr lang="en-US" sz="1050"/>
          </a:p>
        </p:txBody>
      </p:sp>
      <p:sp>
        <p:nvSpPr>
          <p:cNvPr id="1096583962" name="Shape 26"/>
          <p:cNvSpPr/>
          <p:nvPr/>
        </p:nvSpPr>
        <p:spPr bwMode="auto">
          <a:xfrm>
            <a:off x="3467993" y="3535561"/>
            <a:ext cx="5201394" cy="363587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527487484" name="Text 27"/>
          <p:cNvSpPr/>
          <p:nvPr/>
        </p:nvSpPr>
        <p:spPr bwMode="auto">
          <a:xfrm>
            <a:off x="3603650" y="3613993"/>
            <a:ext cx="96381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D-06</a:t>
            </a:r>
            <a:endParaRPr lang="en-US" sz="1050"/>
          </a:p>
        </p:txBody>
      </p:sp>
      <p:sp>
        <p:nvSpPr>
          <p:cNvPr id="1127577646" name="Text 28"/>
          <p:cNvSpPr/>
          <p:nvPr/>
        </p:nvSpPr>
        <p:spPr bwMode="auto">
          <a:xfrm>
            <a:off x="4386188" y="3613993"/>
            <a:ext cx="252189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Plan BCP / DRP</a:t>
            </a:r>
            <a:endParaRPr lang="en-US" sz="1050"/>
          </a:p>
        </p:txBody>
      </p:sp>
      <p:sp>
        <p:nvSpPr>
          <p:cNvPr id="1892579634" name="Text 29"/>
          <p:cNvSpPr/>
          <p:nvPr/>
        </p:nvSpPr>
        <p:spPr bwMode="auto">
          <a:xfrm>
            <a:off x="6726808" y="3613993"/>
            <a:ext cx="226419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No existe</a:t>
            </a:r>
            <a:endParaRPr lang="en-US" sz="1050"/>
          </a:p>
        </p:txBody>
      </p:sp>
      <p:sp>
        <p:nvSpPr>
          <p:cNvPr id="1205333716" name="Shape 30"/>
          <p:cNvSpPr/>
          <p:nvPr/>
        </p:nvSpPr>
        <p:spPr bwMode="auto">
          <a:xfrm>
            <a:off x="3463230" y="4042096"/>
            <a:ext cx="5210919" cy="541809"/>
          </a:xfrm>
          <a:prstGeom prst="roundRect">
            <a:avLst>
              <a:gd name="adj" fmla="val 3754"/>
            </a:avLst>
          </a:prstGeom>
          <a:solidFill>
            <a:srgbClr val="450707"/>
          </a:solidFill>
          <a:ln/>
        </p:spPr>
      </p:sp>
      <p:pic>
        <p:nvPicPr>
          <p:cNvPr id="26897261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98813" y="4235723"/>
            <a:ext cx="169441" cy="135582"/>
          </a:xfrm>
          <a:prstGeom prst="rect">
            <a:avLst/>
          </a:prstGeom>
        </p:spPr>
      </p:pic>
      <p:sp>
        <p:nvSpPr>
          <p:cNvPr id="1110765591" name="Text 31"/>
          <p:cNvSpPr/>
          <p:nvPr/>
        </p:nvSpPr>
        <p:spPr bwMode="auto">
          <a:xfrm>
            <a:off x="3903836" y="4198813"/>
            <a:ext cx="509193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5 de 6 documentos críticos no existen.</a:t>
            </a:r>
            <a:r>
              <a:rPr lang="en-US" sz="10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 La gobernanza documental es nula.</a:t>
            </a:r>
            <a:endParaRPr lang="en-US" sz="1050"/>
          </a:p>
        </p:txBody>
      </p:sp>
      <p:sp>
        <p:nvSpPr>
          <p:cNvPr id="1201917355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335634" name="Text 0"/>
          <p:cNvSpPr/>
          <p:nvPr/>
        </p:nvSpPr>
        <p:spPr bwMode="auto">
          <a:xfrm>
            <a:off x="523577" y="742355"/>
            <a:ext cx="498685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98AC7"/>
                </a:solidFill>
                <a:latin typeface="Lora"/>
                <a:ea typeface="Lora"/>
                <a:cs typeface="Lora"/>
              </a:rPr>
              <a:t>Conclusiones y Avance APO</a:t>
            </a:r>
            <a:endParaRPr lang="en-US" sz="2750"/>
          </a:p>
        </p:txBody>
      </p:sp>
      <p:pic>
        <p:nvPicPr>
          <p:cNvPr id="1932232538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79686" y="1486235"/>
            <a:ext cx="224358" cy="224358"/>
          </a:xfrm>
          <a:prstGeom prst="rect">
            <a:avLst/>
          </a:prstGeom>
        </p:spPr>
      </p:pic>
      <p:sp>
        <p:nvSpPr>
          <p:cNvPr id="541557075" name="Text 1"/>
          <p:cNvSpPr/>
          <p:nvPr/>
        </p:nvSpPr>
        <p:spPr bwMode="auto">
          <a:xfrm>
            <a:off x="1009724" y="1481584"/>
            <a:ext cx="24392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APO01 – Sin marco de gestión</a:t>
            </a:r>
            <a:endParaRPr lang="en-US" sz="1350"/>
          </a:p>
        </p:txBody>
      </p:sp>
      <p:sp>
        <p:nvSpPr>
          <p:cNvPr id="751953497" name="Text 2"/>
          <p:cNvSpPr/>
          <p:nvPr/>
        </p:nvSpPr>
        <p:spPr bwMode="auto">
          <a:xfrm>
            <a:off x="1009724" y="1791295"/>
            <a:ext cx="34687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TI gestionada empíricamente, sin políticas ni métricas.</a:t>
            </a:r>
            <a:endParaRPr lang="en-US" sz="1150"/>
          </a:p>
        </p:txBody>
      </p:sp>
      <p:pic>
        <p:nvPicPr>
          <p:cNvPr id="59733103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4721572" y="1486235"/>
            <a:ext cx="224358" cy="224358"/>
          </a:xfrm>
          <a:prstGeom prst="rect">
            <a:avLst/>
          </a:prstGeom>
        </p:spPr>
      </p:pic>
      <p:sp>
        <p:nvSpPr>
          <p:cNvPr id="353713290" name="Text 3"/>
          <p:cNvSpPr/>
          <p:nvPr/>
        </p:nvSpPr>
        <p:spPr bwMode="auto">
          <a:xfrm>
            <a:off x="5151611" y="1481584"/>
            <a:ext cx="230222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APO06 – Sin presupuesto TI</a:t>
            </a:r>
            <a:endParaRPr lang="en-US" sz="1350"/>
          </a:p>
        </p:txBody>
      </p:sp>
      <p:sp>
        <p:nvSpPr>
          <p:cNvPr id="1055581629" name="Text 4"/>
          <p:cNvSpPr/>
          <p:nvPr/>
        </p:nvSpPr>
        <p:spPr bwMode="auto">
          <a:xfrm>
            <a:off x="5151611" y="1791295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Obsolescencia de equipos por falta de inversión planificada.</a:t>
            </a:r>
            <a:endParaRPr lang="en-US" sz="1150"/>
          </a:p>
        </p:txBody>
      </p:sp>
      <p:pic>
        <p:nvPicPr>
          <p:cNvPr id="186264029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579686" y="2573945"/>
            <a:ext cx="224358" cy="224358"/>
          </a:xfrm>
          <a:prstGeom prst="rect">
            <a:avLst/>
          </a:prstGeom>
        </p:spPr>
      </p:pic>
      <p:sp>
        <p:nvSpPr>
          <p:cNvPr id="1660864260" name="Text 5"/>
          <p:cNvSpPr/>
          <p:nvPr/>
        </p:nvSpPr>
        <p:spPr bwMode="auto">
          <a:xfrm>
            <a:off x="1009724" y="2569294"/>
            <a:ext cx="231048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APO07 – Sin rol formal de TI</a:t>
            </a:r>
            <a:endParaRPr lang="en-US" sz="1350"/>
          </a:p>
        </p:txBody>
      </p:sp>
      <p:sp>
        <p:nvSpPr>
          <p:cNvPr id="385064523" name="Text 6"/>
          <p:cNvSpPr/>
          <p:nvPr/>
        </p:nvSpPr>
        <p:spPr bwMode="auto">
          <a:xfrm>
            <a:off x="1009724" y="2879006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Soporte asignado informalmente, sin capacitación especializada.</a:t>
            </a:r>
            <a:endParaRPr lang="en-US" sz="1150"/>
          </a:p>
        </p:txBody>
      </p:sp>
      <p:pic>
        <p:nvPicPr>
          <p:cNvPr id="1888514883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4721572" y="2573945"/>
            <a:ext cx="224358" cy="224358"/>
          </a:xfrm>
          <a:prstGeom prst="rect">
            <a:avLst/>
          </a:prstGeom>
        </p:spPr>
      </p:pic>
      <p:sp>
        <p:nvSpPr>
          <p:cNvPr id="699482148" name="Text 7"/>
          <p:cNvSpPr/>
          <p:nvPr/>
        </p:nvSpPr>
        <p:spPr bwMode="auto">
          <a:xfrm>
            <a:off x="5151611" y="2569294"/>
            <a:ext cx="26116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D6E5EF"/>
                </a:solidFill>
                <a:latin typeface="Lora"/>
                <a:ea typeface="Lora"/>
                <a:cs typeface="Lora"/>
              </a:rPr>
              <a:t>APO12 – Riesgos no gestionados</a:t>
            </a:r>
            <a:endParaRPr lang="en-US" sz="1350"/>
          </a:p>
        </p:txBody>
      </p:sp>
      <p:sp>
        <p:nvSpPr>
          <p:cNvPr id="131535042" name="Text 8"/>
          <p:cNvSpPr/>
          <p:nvPr/>
        </p:nvSpPr>
        <p:spPr bwMode="auto">
          <a:xfrm>
            <a:off x="5151611" y="2879006"/>
            <a:ext cx="3468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D6E5EF"/>
                </a:solidFill>
                <a:latin typeface="Source Sans 3"/>
                <a:ea typeface="Source Sans 3"/>
                <a:cs typeface="Source Sans 3"/>
              </a:rPr>
              <a:t>Sin Matriz de Riesgos; amenazas operan a ciegas.</a:t>
            </a:r>
            <a:endParaRPr lang="en-US" sz="1150"/>
          </a:p>
        </p:txBody>
      </p:sp>
      <p:sp>
        <p:nvSpPr>
          <p:cNvPr id="1658213664" name="Shape 9"/>
          <p:cNvSpPr/>
          <p:nvPr/>
        </p:nvSpPr>
        <p:spPr bwMode="auto">
          <a:xfrm>
            <a:off x="523577" y="3526036"/>
            <a:ext cx="8096845" cy="875109"/>
          </a:xfrm>
          <a:prstGeom prst="roundRect">
            <a:avLst>
              <a:gd name="adj" fmla="val 2564"/>
            </a:avLst>
          </a:prstGeom>
          <a:solidFill>
            <a:srgbClr val="022349"/>
          </a:solidFill>
          <a:ln/>
        </p:spPr>
      </p:sp>
      <p:pic>
        <p:nvPicPr>
          <p:cNvPr id="841265781" name="Image 4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73150" y="3743995"/>
            <a:ext cx="187003" cy="149572"/>
          </a:xfrm>
          <a:prstGeom prst="rect">
            <a:avLst/>
          </a:prstGeom>
        </p:spPr>
      </p:pic>
      <p:sp>
        <p:nvSpPr>
          <p:cNvPr id="604397856" name="Text 10"/>
          <p:cNvSpPr/>
          <p:nvPr/>
        </p:nvSpPr>
        <p:spPr bwMode="auto">
          <a:xfrm>
            <a:off x="1009724" y="3712964"/>
            <a:ext cx="7461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Conclusión: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 Las deficiencias DSS son síntomas de una causa raíz: </a:t>
            </a:r>
            <a:r>
              <a:rPr lang="en-US" sz="11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nivel de madurez APO ≈ 0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. Se requiere gobernanza formal para que las mejoras técnicas sean sostenibles.</a:t>
            </a:r>
            <a:endParaRPr lang="en-US" sz="1150"/>
          </a:p>
        </p:txBody>
      </p:sp>
      <p:sp>
        <p:nvSpPr>
          <p:cNvPr id="1268498236" name="Shape 3"/>
          <p:cNvSpPr/>
          <p:nvPr/>
        </p:nvSpPr>
        <p:spPr bwMode="auto">
          <a:xfrm>
            <a:off x="7900759" y="4862363"/>
            <a:ext cx="1227385" cy="281135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2026-05-27T01:27:29Z</dcterms:created>
  <dcterms:modified xsi:type="dcterms:W3CDTF">2026-05-27T01:28:43Z</dcterms:modified>
</cp:coreProperties>
</file>